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AI Hỗ Trợ Canh Tác &amp; Dự Báo Giá Cà Phê
Xin chào Thầy và các bạn. Hôm nay Nhóm 10 xin đại diện trình bày đồ án cuối kỳ môn Tư duy Trí tuệ Nhân tạo với đề tài DT10: AI dự báo kế hoạch canh tác mùa vụ và giá cà phê cho nông dân Tây Nguyên. Trọng tâm của đồ án không nằm ở việc xây dựng mô hình Deep Learning phức tạp mà tập trung vào việc áp dụng tư duy thiết kế hệ thống AI bền vững và có trách nhiệm đến tay người nông dân nhỏ lẻ.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Đào Vĩnh Bảo Phúc
Trình bày tóm tắt vai trò điều phối dự án và định hướng thiết kế giao diện Mobile-first tối ưu cho nông dân ở khu vực mạng 3G yếu.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Tăng Phước Thịnh
Nhấn mạnh quá trình thu thập, đồng bộ các thông số khí hậu với chu kỳ giá cà phê và việc kết nối hệ thống xuyên suốt.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Đặng Chí Thanh
Nêu bật quá trình thiết kế lõi AI kiểm soát mức độ quan trọng của đặc trưng (Feature Importance) và xử lý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Hoàng Cao Sơn
Tóm tắt về các phát hiện khi đánh giá độ lệch dữ liệu địa lý giữa các tỉnh và quá trình mô phỏng các kịch bản nhiễu cực đoan (Black Swan).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Bối cảnh &amp; Vấn đề Nông hộ
Cà phê là xương sống kinh tế Tây Nguyên. Tuy nhiên, nông dân nhỏ lẻ đang kẹt giữa hai gọng kìm: một bên là thời tiết cực đoan do biến đổi khí hậu, một bên là thị trường giá cả bấp bênh. Họ thiếu công cụ hỗ trợ ra quyết định khoa học, dẫn đến việc bán non hoặc bón phân tưới nước sai thời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Mục tiêu &amp; Phạm vi
Dự án hướng tới xây dựng một hệ thống AI thực tế, tập trung giải quyết bài toán của nông dân tại 5 tỉnh Tây Nguyên. Chúng tôi xác lập rõ disclaimer ngay từ đầu: AI là công cụ tham khảo hỗ trợ ra quyết định, không phải là quyết định thay cho người dân để đảm bảo tính an toàn về trách nhiệm pháp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Quy trình Xử lý Dữ liệu
Chúng tôi crawl dữ liệu giá cà phê thực tế hàng ngày và dữ liệu thời tiết. Sau khi lọc nhiễu, chúng tôi tổng hợp thành bộ dữ liệu tháng. Chọn dữ liệu tháng giúp nắm bắt xu hướng trung hạn tốt hơn và bám sát nguyên tắc KISS (Keep It Simple, Stupid), giúp mô hình chạy nhanh và gọn nhẹ.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Kiến trúc 4 Tầng
Hệ thống được cấu trúc 4 tầng rõ rệt. Điểm đặc biệt nằm ở tầng thứ 2: Filtering Layer đóng vai trò bảo vệ hệ thống khỏi dữ liệu nhiễu trước khi đưa vào mô hình AI ở tầng 3. Tầng 4 được tối ưu hóa hiển thị trực quan thông tin giải thích mô hình cho người nông dân.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Phương pháp Kỹ thuật &amp; Đặc trưng
Chúng tôi chọn Random Forest vì tính ổn định và khả năng xuất Feature Importance. Khi làm feature engineering, chúng tôi xử lý các thuộc tính trễ giá theo từng huyện riêng biệt để tránh rò rỉ dữ liệu huyện này sang huyện khác, đảm bảo tính đúng đắn về mặt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Kết quả Định lượng (Tập Test 2025)
Chúng tôi kiểm thử mô hình trên dữ liệu năm 2025. MAE đạt 13.5k VND/kg và R² bị âm. Chúng tôi trình bày trung thực chỉ số âm này. Nguyên nhân là năm 2025 giá cà phê thực tế tăng phi mã lên hơn 100k/kg, vượt ngoài miền dữ liệu huấn luyện 2022-2024. Mô hình cây quyết định không thể ngoại suy vượt trần tập train. Đây là giới hạn kỹ thuật quan trọng giúp chúng tôi nhận thức rõ tính tin cậy của mô hình khi gặp biến cố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Robustness (Kháng nhiễu)
Trong repo hiện tại, lớp Robustness được hiện thực bằng validate ở tầng API và kiểm tra category theo model đã train. Nhóm không claim có một sanitizer riêng hay một lớp guardrails cho LLM production, vì các thành phần đó chưa có trong codebase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Bias &amp; Social Impact
Về trục Bias, chúng tôi phát hiện dữ liệu Đắk Nông cào được rất ít (chỉ 39.6%). Do đó hệ thống sẽ cảnh báo nông dân Đắk Nông rằng độ tin cậy dự báo vùng này thấp hơn Lâm Đồng để tránh họ ra quyết định sai. Về tác động xã hội (Social Impact), chúng tôi kiểm nghiệm thực tế giao diện di động React/Vite/Tailwind kết nối backend. Giao diện được tối ưu hóa mobile-first với màn chào rõ ràng, nút lớn tương phản cao chống chói nắng, hỗ trợ lưu trữ cục bộ để xem lịch sử khi mất mạng, và đặc biệt chân trang luôn hiển thị Disclaimer bắt buộc nhằm tránh các rủi ro quyết định kinh tế sai lệch cho người nông dân.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Transparency (Tính minh bạch)
Với trục Transparency, mô hình bóc tách rõ tầm ảnh hưởng của các biến. 72.8% giá trị dự báo được quyết định bởi trung bình trượt giá quá khứ gần. Điều này minh bạch hóa thuật toán, giúp nông dân hiểu rằng đà giá thị trường là yếu tố quyết định chính chứ không phải các yếu tố thời tiết ngắn hạn, giúp họ bình tĩnh phân tích thông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Giao diện Di động (Mobile UI)
Chúng tôi đã hiện thực một giao diện di động bằng React. Giao diện phân tách tính năng thành các luồng độc lập, bám sát mental model của người nông dân. Ứng dụng hỗ trợ lưu trữ cục bộ để xem lại dự báo khi không có mạng, thiết kế hiện thực hoàn toàn nguyên lý Social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Kết luận &amp; Hướng Phát triển
Tóm lại, dự án DT10 đã hoàn thiện khung baseline vững chắc và tích hợp Responsible AI vào code thực tế. Trong tương lai, chúng tôi sẽ mở rộng dữ liệu và thử nghiệm các mô hình có khả năng học xu hướng tốt hơn như Prophet hay XGBoost để giải quyết triệt để bài toán ngoại suy khi thị trường biến động cực đoan.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Kết luận &amp; Tài liệu Tham khảo
Tổng kết ngắn gọn giá trị cốt lõi nhóm đã đạt được và trích dẫn các nền tảng khoa học nhóm đã sử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Xin Chân Thành Cảm Ơn!
Tạm dừng, mỉm cười và chuẩn bị tinh thần trả lời câu hỏi phản biện từ hội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01-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853440"/>
            <a:ext cx="5689600" cy="294640"/>
          </a:xfrm>
          <a:prstGeom prst="rect">
            <a:avLst/>
          </a:prstGeom>
          <a:noFill/>
          <a:ln/>
        </p:spPr>
        <p:txBody>
          <a:bodyPr wrap="none" lIns="0" tIns="0" rIns="0" bIns="0" rtlCol="0" anchor="t"/>
          <a:lstStyle/>
          <a:p>
            <a:pPr algn="l" indent="0" marL="0">
              <a:buNone/>
            </a:pPr>
            <a:r>
              <a:rPr lang="vi-VN" altLang="en-US" sz="1050" b="1" dirty="0">
                <a:solidFill>
                  <a:srgbClr val="1E3A8A"/>
                </a:solidFill>
                <a:latin typeface="Times New Roman" pitchFamily="34" charset="0"/>
                <a:ea typeface="Times New Roman" pitchFamily="34" charset="-122"/>
                <a:cs typeface="Times New Roman" pitchFamily="34" charset="-120"/>
              </a:rPr>
              <a:t>TRƯỜNG ĐẠI HỌC CÔNG NGHỆ THÔNG TIN - ĐHQG-HCM</a:t>
            </a:r>
            <a:endParaRPr lang="vi-VN" sz="1050" dirty="0"/>
          </a:p>
        </p:txBody>
      </p:sp>
      <p:sp>
        <p:nvSpPr>
          <p:cNvPr id="4" name="editable-text-002"/>
          <p:cNvSpPr/>
          <p:nvPr/>
        </p:nvSpPr>
        <p:spPr>
          <a:xfrm>
            <a:off x="650240" y="1192847"/>
            <a:ext cx="7315200" cy="1611312"/>
          </a:xfrm>
          <a:prstGeom prst="rect">
            <a:avLst/>
          </a:prstGeom>
          <a:noFill/>
          <a:ln/>
        </p:spPr>
        <p:txBody>
          <a:bodyPr wrap="none" lIns="0" tIns="0" rIns="0" bIns="0" rtlCol="0" anchor="t"/>
          <a:lstStyle/>
          <a:p>
            <a:pPr algn="l" indent="0" marL="0">
              <a:buNone/>
            </a:pPr>
            <a:r>
              <a:rPr lang="vi-VN" altLang="en-US" sz="4800" b="1" dirty="0">
                <a:solidFill>
                  <a:srgbClr val="000000"/>
                </a:solidFill>
                <a:latin typeface="Times New Roman" pitchFamily="34" charset="0"/>
                <a:ea typeface="Times New Roman" pitchFamily="34" charset="-122"/>
                <a:cs typeface="Times New Roman" pitchFamily="34" charset="-120"/>
              </a:rPr>
              <a:t>AI Hỗ Trợ Canh Tác &amp; Dự Báo Giá Cà Phê</a:t>
            </a:r>
            <a:endParaRPr lang="vi-VN" sz="4800" dirty="0"/>
          </a:p>
        </p:txBody>
      </p:sp>
      <p:sp>
        <p:nvSpPr>
          <p:cNvPr id="5" name="editable-text-003"/>
          <p:cNvSpPr/>
          <p:nvPr/>
        </p:nvSpPr>
        <p:spPr>
          <a:xfrm>
            <a:off x="650240" y="2972752"/>
            <a:ext cx="5955506" cy="457200"/>
          </a:xfrm>
          <a:prstGeom prst="rect">
            <a:avLst/>
          </a:prstGeom>
          <a:noFill/>
          <a:ln/>
        </p:spPr>
        <p:txBody>
          <a:bodyPr wrap="square" lIns="0" tIns="0" rIns="0" bIns="0" rtlCol="0" anchor="t"/>
          <a:lstStyle/>
          <a:p>
            <a:pPr algn="l" indent="0" marL="0">
              <a:buNone/>
            </a:pPr>
            <a:r>
              <a:rPr lang="vi-VN" altLang="en-US" sz="2100" b="1" dirty="0">
                <a:solidFill>
                  <a:srgbClr val="1D4ED8"/>
                </a:solidFill>
                <a:latin typeface="Times New Roman" pitchFamily="34" charset="0"/>
                <a:ea typeface="Times New Roman" pitchFamily="34" charset="-122"/>
                <a:cs typeface="Times New Roman" pitchFamily="34" charset="-120"/>
              </a:rPr>
              <a:t>Đề tài DT10 - Tư duy Trí tuệ Nhân tạo (AI002)</a:t>
            </a:r>
            <a:endParaRPr lang="vi-VN" sz="2100" dirty="0"/>
          </a:p>
        </p:txBody>
      </p:sp>
      <p:sp>
        <p:nvSpPr>
          <p:cNvPr id="6" name="editable-text-004"/>
          <p:cNvSpPr/>
          <p:nvPr/>
        </p:nvSpPr>
        <p:spPr>
          <a:xfrm>
            <a:off x="650240" y="4090352"/>
            <a:ext cx="3711734" cy="365760"/>
          </a:xfrm>
          <a:prstGeom prst="rect">
            <a:avLst/>
          </a:prstGeom>
          <a:noFill/>
          <a:ln/>
        </p:spPr>
        <p:txBody>
          <a:bodyPr wrap="none" lIns="0" tIns="0" rIns="0" bIns="0" rtlCol="0" anchor="t"/>
          <a:lstStyle/>
          <a:p>
            <a:pPr algn="l" indent="0" marL="0">
              <a:buNone/>
            </a:pPr>
            <a:r>
              <a:rPr lang="vi-VN" altLang="en-US" sz="1500" dirty="0">
                <a:solidFill>
                  <a:srgbClr val="000000"/>
                </a:solidFill>
                <a:latin typeface="Times New Roman" pitchFamily="34" charset="0"/>
                <a:ea typeface="Times New Roman" pitchFamily="34" charset="-122"/>
                <a:cs typeface="Times New Roman" pitchFamily="34" charset="-120"/>
              </a:rPr>
              <a:t>Giảng viên hướng dẫn: TS. Phan Thế Duy</a:t>
            </a:r>
            <a:endParaRPr lang="vi-VN" sz="1500" dirty="0"/>
          </a:p>
        </p:txBody>
      </p:sp>
      <p:sp>
        <p:nvSpPr>
          <p:cNvPr id="7" name="editable-text-005"/>
          <p:cNvSpPr/>
          <p:nvPr/>
        </p:nvSpPr>
        <p:spPr>
          <a:xfrm>
            <a:off x="650240" y="4846320"/>
            <a:ext cx="1991519" cy="365760"/>
          </a:xfrm>
          <a:prstGeom prst="rect">
            <a:avLst/>
          </a:prstGeom>
          <a:noFill/>
          <a:ln/>
        </p:spPr>
        <p:txBody>
          <a:bodyPr wrap="none" lIns="0" tIns="0" rIns="0" bIns="0" rtlCol="0" anchor="t"/>
          <a:lstStyle/>
          <a:p>
            <a:pPr algn="l" indent="0" marL="0">
              <a:buNone/>
            </a:pPr>
            <a:r>
              <a:rPr lang="vi-VN" altLang="en-US" sz="1500" b="1" dirty="0">
                <a:solidFill>
                  <a:srgbClr val="000000"/>
                </a:solidFill>
                <a:latin typeface="Times New Roman" pitchFamily="34" charset="0"/>
                <a:ea typeface="Times New Roman" pitchFamily="34" charset="-122"/>
                <a:cs typeface="Times New Roman" pitchFamily="34" charset="-120"/>
              </a:rPr>
              <a:t>Đào Vĩnh Bảo Phúc</a:t>
            </a:r>
            <a:endParaRPr lang="vi-VN" sz="1500" dirty="0"/>
          </a:p>
        </p:txBody>
      </p:sp>
      <p:sp>
        <p:nvSpPr>
          <p:cNvPr id="8" name="editable-text-006"/>
          <p:cNvSpPr/>
          <p:nvPr/>
        </p:nvSpPr>
        <p:spPr>
          <a:xfrm>
            <a:off x="650240" y="5171440"/>
            <a:ext cx="1953101" cy="314960"/>
          </a:xfrm>
          <a:prstGeom prst="rect">
            <a:avLst/>
          </a:prstGeom>
          <a:noFill/>
          <a:ln/>
        </p:spPr>
        <p:txBody>
          <a:bodyPr wrap="none" lIns="0" tIns="0" rIns="0" bIns="0" rtlCol="0" anchor="t"/>
          <a:lstStyle/>
          <a:p>
            <a:pPr algn="l" indent="0" marL="0">
              <a:buNone/>
            </a:pPr>
            <a:r>
              <a:rPr lang="vi-VN" altLang="en-US" sz="1200" dirty="0">
                <a:solidFill>
                  <a:srgbClr val="000000"/>
                </a:solidFill>
                <a:latin typeface="Times New Roman" pitchFamily="34" charset="0"/>
                <a:ea typeface="Times New Roman" pitchFamily="34" charset="-122"/>
                <a:cs typeface="Times New Roman" pitchFamily="34" charset="-120"/>
              </a:rPr>
              <a:t>Nhóm trưởng - 25730053</a:t>
            </a:r>
            <a:endParaRPr lang="vi-VN" sz="1200" dirty="0"/>
          </a:p>
        </p:txBody>
      </p:sp>
      <p:sp>
        <p:nvSpPr>
          <p:cNvPr id="9" name="editable-text-007"/>
          <p:cNvSpPr/>
          <p:nvPr/>
        </p:nvSpPr>
        <p:spPr>
          <a:xfrm>
            <a:off x="4080192" y="4846320"/>
            <a:ext cx="1927066" cy="365760"/>
          </a:xfrm>
          <a:prstGeom prst="rect">
            <a:avLst/>
          </a:prstGeom>
          <a:noFill/>
          <a:ln/>
        </p:spPr>
        <p:txBody>
          <a:bodyPr wrap="none" lIns="0" tIns="0" rIns="0" bIns="0" rtlCol="0" anchor="t"/>
          <a:lstStyle/>
          <a:p>
            <a:pPr algn="l" indent="0" marL="0">
              <a:buNone/>
            </a:pPr>
            <a:r>
              <a:rPr lang="vi-VN" altLang="en-US" sz="1500" b="1" dirty="0">
                <a:solidFill>
                  <a:srgbClr val="000000"/>
                </a:solidFill>
                <a:latin typeface="Times New Roman" pitchFamily="34" charset="0"/>
                <a:ea typeface="Times New Roman" pitchFamily="34" charset="-122"/>
                <a:cs typeface="Times New Roman" pitchFamily="34" charset="-120"/>
              </a:rPr>
              <a:t>Tăng Phước Thịnh</a:t>
            </a:r>
            <a:endParaRPr lang="vi-VN" sz="1500" dirty="0"/>
          </a:p>
        </p:txBody>
      </p:sp>
      <p:sp>
        <p:nvSpPr>
          <p:cNvPr id="10" name="editable-text-008"/>
          <p:cNvSpPr/>
          <p:nvPr/>
        </p:nvSpPr>
        <p:spPr>
          <a:xfrm>
            <a:off x="4080192" y="5171440"/>
            <a:ext cx="1805940" cy="314960"/>
          </a:xfrm>
          <a:prstGeom prst="rect">
            <a:avLst/>
          </a:prstGeom>
          <a:noFill/>
          <a:ln/>
        </p:spPr>
        <p:txBody>
          <a:bodyPr wrap="none" lIns="0" tIns="0" rIns="0" bIns="0" rtlCol="0" anchor="t"/>
          <a:lstStyle/>
          <a:p>
            <a:pPr algn="l" indent="0" marL="0">
              <a:buNone/>
            </a:pPr>
            <a:r>
              <a:rPr lang="vi-VN" altLang="en-US" sz="1200" dirty="0">
                <a:solidFill>
                  <a:srgbClr val="000000"/>
                </a:solidFill>
                <a:latin typeface="Times New Roman" pitchFamily="34" charset="0"/>
                <a:ea typeface="Times New Roman" pitchFamily="34" charset="-122"/>
                <a:cs typeface="Times New Roman" pitchFamily="34" charset="-120"/>
              </a:rPr>
              <a:t>Thành viên - 25730071</a:t>
            </a:r>
            <a:endParaRPr lang="vi-VN" sz="1200" dirty="0"/>
          </a:p>
        </p:txBody>
      </p:sp>
      <p:sp>
        <p:nvSpPr>
          <p:cNvPr id="11" name="editable-text-009"/>
          <p:cNvSpPr/>
          <p:nvPr/>
        </p:nvSpPr>
        <p:spPr>
          <a:xfrm>
            <a:off x="650240" y="5659120"/>
            <a:ext cx="1737836" cy="365760"/>
          </a:xfrm>
          <a:prstGeom prst="rect">
            <a:avLst/>
          </a:prstGeom>
          <a:noFill/>
          <a:ln/>
        </p:spPr>
        <p:txBody>
          <a:bodyPr wrap="none" lIns="0" tIns="0" rIns="0" bIns="0" rtlCol="0" anchor="t"/>
          <a:lstStyle/>
          <a:p>
            <a:pPr algn="l" indent="0" marL="0">
              <a:buNone/>
            </a:pPr>
            <a:r>
              <a:rPr lang="vi-VN" altLang="en-US" sz="1500" b="1" dirty="0">
                <a:solidFill>
                  <a:srgbClr val="000000"/>
                </a:solidFill>
                <a:latin typeface="Times New Roman" pitchFamily="34" charset="0"/>
                <a:ea typeface="Times New Roman" pitchFamily="34" charset="-122"/>
                <a:cs typeface="Times New Roman" pitchFamily="34" charset="-120"/>
              </a:rPr>
              <a:t>Đặng Chí Thanh</a:t>
            </a:r>
            <a:endParaRPr lang="vi-VN" sz="1500" dirty="0"/>
          </a:p>
        </p:txBody>
      </p:sp>
      <p:sp>
        <p:nvSpPr>
          <p:cNvPr id="12" name="editable-text-010"/>
          <p:cNvSpPr/>
          <p:nvPr/>
        </p:nvSpPr>
        <p:spPr>
          <a:xfrm>
            <a:off x="650240" y="5984240"/>
            <a:ext cx="1805940" cy="314960"/>
          </a:xfrm>
          <a:prstGeom prst="rect">
            <a:avLst/>
          </a:prstGeom>
          <a:noFill/>
          <a:ln/>
        </p:spPr>
        <p:txBody>
          <a:bodyPr wrap="none" lIns="0" tIns="0" rIns="0" bIns="0" rtlCol="0" anchor="t"/>
          <a:lstStyle/>
          <a:p>
            <a:pPr algn="l" indent="0" marL="0">
              <a:buNone/>
            </a:pPr>
            <a:r>
              <a:rPr lang="vi-VN" altLang="en-US" sz="1200" dirty="0">
                <a:solidFill>
                  <a:srgbClr val="000000"/>
                </a:solidFill>
                <a:latin typeface="Times New Roman" pitchFamily="34" charset="0"/>
                <a:ea typeface="Times New Roman" pitchFamily="34" charset="-122"/>
                <a:cs typeface="Times New Roman" pitchFamily="34" charset="-120"/>
              </a:rPr>
              <a:t>Thành viên - 25730067</a:t>
            </a:r>
            <a:endParaRPr lang="vi-VN" sz="1200" dirty="0"/>
          </a:p>
        </p:txBody>
      </p:sp>
      <p:sp>
        <p:nvSpPr>
          <p:cNvPr id="13" name="editable-text-011"/>
          <p:cNvSpPr/>
          <p:nvPr/>
        </p:nvSpPr>
        <p:spPr>
          <a:xfrm>
            <a:off x="4080192" y="5659120"/>
            <a:ext cx="1650524" cy="365760"/>
          </a:xfrm>
          <a:prstGeom prst="rect">
            <a:avLst/>
          </a:prstGeom>
          <a:noFill/>
          <a:ln/>
        </p:spPr>
        <p:txBody>
          <a:bodyPr wrap="none" lIns="0" tIns="0" rIns="0" bIns="0" rtlCol="0" anchor="t"/>
          <a:lstStyle/>
          <a:p>
            <a:pPr algn="l" indent="0" marL="0">
              <a:buNone/>
            </a:pPr>
            <a:r>
              <a:rPr lang="vi-VN" altLang="en-US" sz="1500" b="1" dirty="0">
                <a:solidFill>
                  <a:srgbClr val="000000"/>
                </a:solidFill>
                <a:latin typeface="Times New Roman" pitchFamily="34" charset="0"/>
                <a:ea typeface="Times New Roman" pitchFamily="34" charset="-122"/>
                <a:cs typeface="Times New Roman" pitchFamily="34" charset="-120"/>
              </a:rPr>
              <a:t>Hoàng Cao Sơn</a:t>
            </a:r>
            <a:endParaRPr lang="vi-VN" sz="1500" dirty="0"/>
          </a:p>
        </p:txBody>
      </p:sp>
      <p:sp>
        <p:nvSpPr>
          <p:cNvPr id="14" name="editable-text-012"/>
          <p:cNvSpPr/>
          <p:nvPr/>
        </p:nvSpPr>
        <p:spPr>
          <a:xfrm>
            <a:off x="4080192" y="5984240"/>
            <a:ext cx="1805940" cy="314960"/>
          </a:xfrm>
          <a:prstGeom prst="rect">
            <a:avLst/>
          </a:prstGeom>
          <a:noFill/>
          <a:ln/>
        </p:spPr>
        <p:txBody>
          <a:bodyPr wrap="none" lIns="0" tIns="0" rIns="0" bIns="0" rtlCol="0" anchor="t"/>
          <a:lstStyle/>
          <a:p>
            <a:pPr algn="l" indent="0" marL="0">
              <a:buNone/>
            </a:pPr>
            <a:r>
              <a:rPr lang="vi-VN" altLang="en-US" sz="1200" dirty="0">
                <a:solidFill>
                  <a:srgbClr val="000000"/>
                </a:solidFill>
                <a:latin typeface="Times New Roman" pitchFamily="34" charset="0"/>
                <a:ea typeface="Times New Roman" pitchFamily="34" charset="-122"/>
                <a:cs typeface="Times New Roman" pitchFamily="34" charset="-120"/>
              </a:rPr>
              <a:t>Thành viên - 25730061</a:t>
            </a:r>
            <a:endParaRPr lang="vi-VN" sz="1200" dirty="0"/>
          </a:p>
        </p:txBody>
      </p:sp>
      <p:sp>
        <p:nvSpPr>
          <p:cNvPr id="15" name="editable-text-013"/>
          <p:cNvSpPr/>
          <p:nvPr/>
        </p:nvSpPr>
        <p:spPr>
          <a:xfrm>
            <a:off x="11450161" y="6441440"/>
            <a:ext cx="37592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a:t>
            </a:r>
            <a:endParaRPr lang="vi-VN" sz="1350" dirty="0"/>
          </a:p>
        </p:txBody>
      </p:sp>
      <p:sp>
        <p:nvSpPr>
          <p:cNvPr id="16" name="editable-text-014"/>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17" name="editable-text-015"/>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02-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80720"/>
            <a:ext cx="5689600"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TRƯỜNG ĐẠI HỌC CÔNG NGHỆ THÔNG TIN - ĐHQG-HCM</a:t>
            </a:r>
            <a:endParaRPr lang="vi-VN" sz="1350" dirty="0"/>
          </a:p>
        </p:txBody>
      </p:sp>
      <p:sp>
        <p:nvSpPr>
          <p:cNvPr id="4" name="editable-text-002"/>
          <p:cNvSpPr/>
          <p:nvPr/>
        </p:nvSpPr>
        <p:spPr>
          <a:xfrm>
            <a:off x="10447337" y="741680"/>
            <a:ext cx="3657600" cy="294640"/>
          </a:xfrm>
          <a:prstGeom prst="rect">
            <a:avLst/>
          </a:prstGeom>
          <a:noFill/>
          <a:ln/>
        </p:spPr>
        <p:txBody>
          <a:bodyPr wrap="none" lIns="0" tIns="0" rIns="0" bIns="0" rtlCol="0" anchor="t"/>
          <a:lstStyle/>
          <a:p>
            <a:pPr algn="l" indent="0" marL="0">
              <a:buNone/>
            </a:pPr>
            <a:r>
              <a:rPr lang="vi-VN" altLang="en-US" sz="1050" b="1" dirty="0">
                <a:solidFill>
                  <a:srgbClr val="6B7280"/>
                </a:solidFill>
                <a:latin typeface="Times New Roman" pitchFamily="34" charset="0"/>
                <a:ea typeface="Times New Roman" pitchFamily="34" charset="-122"/>
                <a:cs typeface="Times New Roman" pitchFamily="34" charset="-120"/>
              </a:rPr>
              <a:t>NHÓM 10 - DT10</a:t>
            </a:r>
            <a:endParaRPr lang="vi-VN" sz="1050" dirty="0"/>
          </a:p>
        </p:txBody>
      </p:sp>
      <p:sp>
        <p:nvSpPr>
          <p:cNvPr id="5" name="editable-text-003"/>
          <p:cNvSpPr/>
          <p:nvPr/>
        </p:nvSpPr>
        <p:spPr>
          <a:xfrm>
            <a:off x="894080" y="1432560"/>
            <a:ext cx="7315200" cy="589280"/>
          </a:xfrm>
          <a:prstGeom prst="rect">
            <a:avLst/>
          </a:prstGeom>
          <a:noFill/>
          <a:ln/>
        </p:spPr>
        <p:txBody>
          <a:bodyPr wrap="none" lIns="0" tIns="0" rIns="0" bIns="0" rtlCol="0" anchor="t"/>
          <a:lstStyle/>
          <a:p>
            <a:pPr algn="l" indent="0" marL="0">
              <a:buNone/>
            </a:pPr>
            <a:r>
              <a:rPr lang="vi-VN" altLang="en-US" sz="2700" b="1" dirty="0">
                <a:solidFill>
                  <a:srgbClr val="FFFFFF"/>
                </a:solidFill>
                <a:latin typeface="Times New Roman" pitchFamily="34" charset="0"/>
                <a:ea typeface="Times New Roman" pitchFamily="34" charset="-122"/>
                <a:cs typeface="Times New Roman" pitchFamily="34" charset="-120"/>
              </a:rPr>
              <a:t>Đào Vĩnh Bảo Phúc</a:t>
            </a:r>
            <a:endParaRPr lang="vi-VN" sz="2700" dirty="0"/>
          </a:p>
        </p:txBody>
      </p:sp>
      <p:sp>
        <p:nvSpPr>
          <p:cNvPr id="6" name="editable-text-004"/>
          <p:cNvSpPr/>
          <p:nvPr/>
        </p:nvSpPr>
        <p:spPr>
          <a:xfrm>
            <a:off x="894080" y="1950720"/>
            <a:ext cx="3015932" cy="365760"/>
          </a:xfrm>
          <a:prstGeom prst="rect">
            <a:avLst/>
          </a:prstGeom>
          <a:noFill/>
          <a:ln/>
        </p:spPr>
        <p:txBody>
          <a:bodyPr wrap="none" lIns="0" tIns="0" rIns="0" bIns="0" rtlCol="0" anchor="t"/>
          <a:lstStyle/>
          <a:p>
            <a:pPr algn="l" indent="0" marL="0">
              <a:buNone/>
            </a:pPr>
            <a:r>
              <a:rPr lang="vi-VN" altLang="en-US" sz="1500" dirty="0">
                <a:solidFill>
                  <a:srgbClr val="BFDBFE"/>
                </a:solidFill>
                <a:latin typeface="Times New Roman" pitchFamily="34" charset="0"/>
                <a:ea typeface="Times New Roman" pitchFamily="34" charset="-122"/>
                <a:cs typeface="Times New Roman" pitchFamily="34" charset="-120"/>
              </a:rPr>
              <a:t>Nhóm trưởng - MSSV: 25730053</a:t>
            </a:r>
            <a:endParaRPr lang="vi-VN" sz="1500" dirty="0"/>
          </a:p>
        </p:txBody>
      </p:sp>
      <p:sp>
        <p:nvSpPr>
          <p:cNvPr id="7" name="editable-text-005"/>
          <p:cNvSpPr/>
          <p:nvPr/>
        </p:nvSpPr>
        <p:spPr>
          <a:xfrm>
            <a:off x="10735627" y="1686560"/>
            <a:ext cx="433546" cy="406400"/>
          </a:xfrm>
          <a:prstGeom prst="rect">
            <a:avLst/>
          </a:prstGeom>
          <a:noFill/>
          <a:ln/>
        </p:spPr>
        <p:txBody>
          <a:bodyPr wrap="none" lIns="0" tIns="0" rIns="0" bIns="0" rtlCol="0" anchor="t"/>
          <a:lstStyle/>
          <a:p>
            <a:pPr algn="l" indent="0" marL="0">
              <a:buNone/>
            </a:pPr>
            <a:r>
              <a:rPr lang="vi-VN" altLang="en-US" sz="1800" b="1" dirty="0">
                <a:solidFill>
                  <a:srgbClr val="1E3A8A"/>
                </a:solidFill>
                <a:latin typeface="Times New Roman" pitchFamily="34" charset="0"/>
                <a:ea typeface="Times New Roman" pitchFamily="34" charset="-122"/>
                <a:cs typeface="Times New Roman" pitchFamily="34" charset="-120"/>
              </a:rPr>
              <a:t>P</a:t>
            </a:r>
            <a:endParaRPr lang="vi-VN" sz="1800" dirty="0"/>
          </a:p>
        </p:txBody>
      </p:sp>
      <p:sp>
        <p:nvSpPr>
          <p:cNvPr id="8" name="editable-text-006"/>
          <p:cNvSpPr/>
          <p:nvPr/>
        </p:nvSpPr>
        <p:spPr>
          <a:xfrm>
            <a:off x="975360" y="3068320"/>
            <a:ext cx="3172142" cy="406400"/>
          </a:xfrm>
          <a:prstGeom prst="rect">
            <a:avLst/>
          </a:prstGeom>
          <a:noFill/>
          <a:ln/>
        </p:spPr>
        <p:txBody>
          <a:bodyPr wrap="none" lIns="0" tIns="0" rIns="0" bIns="0" rtlCol="0" anchor="t"/>
          <a:lstStyle/>
          <a:p>
            <a:pPr algn="l"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PHÂN CÔNG NHIỆM VỤ:</a:t>
            </a:r>
            <a:endParaRPr lang="vi-VN" sz="1800" dirty="0"/>
          </a:p>
        </p:txBody>
      </p:sp>
      <p:sp>
        <p:nvSpPr>
          <p:cNvPr id="9" name="editable-text-007"/>
          <p:cNvSpPr/>
          <p:nvPr/>
        </p:nvSpPr>
        <p:spPr>
          <a:xfrm>
            <a:off x="975360" y="358648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0" name="editable-text-008"/>
          <p:cNvSpPr/>
          <p:nvPr/>
        </p:nvSpPr>
        <p:spPr>
          <a:xfrm>
            <a:off x="1244759" y="3637280"/>
            <a:ext cx="2969419" cy="406400"/>
          </a:xfrm>
          <a:prstGeom prst="rect">
            <a:avLst/>
          </a:prstGeom>
          <a:noFill/>
          <a:ln/>
        </p:spPr>
        <p:txBody>
          <a:bodyPr wrap="non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Thu thập dữ liệu (Crawler).</a:t>
            </a:r>
            <a:endParaRPr lang="vi-VN" sz="1800" dirty="0"/>
          </a:p>
        </p:txBody>
      </p:sp>
      <p:sp>
        <p:nvSpPr>
          <p:cNvPr id="11" name="editable-text-009"/>
          <p:cNvSpPr/>
          <p:nvPr/>
        </p:nvSpPr>
        <p:spPr>
          <a:xfrm>
            <a:off x="975360" y="415544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2" name="editable-text-010"/>
          <p:cNvSpPr/>
          <p:nvPr/>
        </p:nvSpPr>
        <p:spPr>
          <a:xfrm>
            <a:off x="1244759" y="4206240"/>
            <a:ext cx="3230086" cy="406400"/>
          </a:xfrm>
          <a:prstGeom prst="rect">
            <a:avLst/>
          </a:prstGeom>
          <a:noFill/>
          <a:ln/>
        </p:spPr>
        <p:txBody>
          <a:bodyPr wrap="non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Xây dựng Web UI (Frontend).</a:t>
            </a:r>
            <a:endParaRPr lang="vi-VN" sz="1800" dirty="0"/>
          </a:p>
        </p:txBody>
      </p:sp>
      <p:sp>
        <p:nvSpPr>
          <p:cNvPr id="13" name="editable-text-011"/>
          <p:cNvSpPr/>
          <p:nvPr/>
        </p:nvSpPr>
        <p:spPr>
          <a:xfrm>
            <a:off x="975360" y="472440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4" name="editable-text-012"/>
          <p:cNvSpPr/>
          <p:nvPr/>
        </p:nvSpPr>
        <p:spPr>
          <a:xfrm>
            <a:off x="1244759" y="4775200"/>
            <a:ext cx="3433762" cy="406400"/>
          </a:xfrm>
          <a:prstGeom prst="rect">
            <a:avLst/>
          </a:prstGeom>
          <a:noFill/>
          <a:ln/>
        </p:spPr>
        <p:txBody>
          <a:bodyPr wrap="non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Hỗ trợ thiết kế Báo cáo &amp; Slide.</a:t>
            </a:r>
            <a:endParaRPr lang="vi-VN" sz="1800" dirty="0"/>
          </a:p>
        </p:txBody>
      </p:sp>
      <p:sp>
        <p:nvSpPr>
          <p:cNvPr id="15" name="editable-text-013"/>
          <p:cNvSpPr/>
          <p:nvPr/>
        </p:nvSpPr>
        <p:spPr>
          <a:xfrm>
            <a:off x="975360" y="529336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6" name="editable-text-014"/>
          <p:cNvSpPr/>
          <p:nvPr/>
        </p:nvSpPr>
        <p:spPr>
          <a:xfrm>
            <a:off x="1244759" y="5344160"/>
            <a:ext cx="6376194" cy="406400"/>
          </a:xfrm>
          <a:prstGeom prst="rect">
            <a:avLst/>
          </a:prstGeom>
          <a:noFill/>
          <a:ln/>
        </p:spPr>
        <p:txBody>
          <a:bodyPr wrap="squar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Phụ trách AI Bền vững: Trục Social Impact (Tác động xã hội).</a:t>
            </a:r>
            <a:endParaRPr lang="vi-VN" sz="1800" dirty="0"/>
          </a:p>
        </p:txBody>
      </p:sp>
      <p:sp>
        <p:nvSpPr>
          <p:cNvPr id="17" name="editable-text-015"/>
          <p:cNvSpPr/>
          <p:nvPr/>
        </p:nvSpPr>
        <p:spPr>
          <a:xfrm>
            <a:off x="11450161" y="6441440"/>
            <a:ext cx="37592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2</a:t>
            </a:r>
            <a:endParaRPr lang="vi-VN" sz="1350" dirty="0"/>
          </a:p>
        </p:txBody>
      </p:sp>
      <p:sp>
        <p:nvSpPr>
          <p:cNvPr id="18" name="editable-text-016"/>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19" name="editable-text-017"/>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03-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80720"/>
            <a:ext cx="5689600"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TRƯỜNG ĐẠI HỌC CÔNG NGHỆ THÔNG TIN - ĐHQG-HCM</a:t>
            </a:r>
            <a:endParaRPr lang="vi-VN" sz="1350" dirty="0"/>
          </a:p>
        </p:txBody>
      </p:sp>
      <p:sp>
        <p:nvSpPr>
          <p:cNvPr id="4" name="editable-text-002"/>
          <p:cNvSpPr/>
          <p:nvPr/>
        </p:nvSpPr>
        <p:spPr>
          <a:xfrm>
            <a:off x="10447337" y="741680"/>
            <a:ext cx="3657600" cy="294640"/>
          </a:xfrm>
          <a:prstGeom prst="rect">
            <a:avLst/>
          </a:prstGeom>
          <a:noFill/>
          <a:ln/>
        </p:spPr>
        <p:txBody>
          <a:bodyPr wrap="none" lIns="0" tIns="0" rIns="0" bIns="0" rtlCol="0" anchor="t"/>
          <a:lstStyle/>
          <a:p>
            <a:pPr algn="l" indent="0" marL="0">
              <a:buNone/>
            </a:pPr>
            <a:r>
              <a:rPr lang="vi-VN" altLang="en-US" sz="1050" b="1" dirty="0">
                <a:solidFill>
                  <a:srgbClr val="6B7280"/>
                </a:solidFill>
                <a:latin typeface="Times New Roman" pitchFamily="34" charset="0"/>
                <a:ea typeface="Times New Roman" pitchFamily="34" charset="-122"/>
                <a:cs typeface="Times New Roman" pitchFamily="34" charset="-120"/>
              </a:rPr>
              <a:t>NHÓM 10 - DT10</a:t>
            </a:r>
            <a:endParaRPr lang="vi-VN" sz="1050" dirty="0"/>
          </a:p>
        </p:txBody>
      </p:sp>
      <p:sp>
        <p:nvSpPr>
          <p:cNvPr id="5" name="editable-text-003"/>
          <p:cNvSpPr/>
          <p:nvPr/>
        </p:nvSpPr>
        <p:spPr>
          <a:xfrm>
            <a:off x="894080" y="1432560"/>
            <a:ext cx="7315200" cy="589280"/>
          </a:xfrm>
          <a:prstGeom prst="rect">
            <a:avLst/>
          </a:prstGeom>
          <a:noFill/>
          <a:ln/>
        </p:spPr>
        <p:txBody>
          <a:bodyPr wrap="none" lIns="0" tIns="0" rIns="0" bIns="0" rtlCol="0" anchor="t"/>
          <a:lstStyle/>
          <a:p>
            <a:pPr algn="l" indent="0" marL="0">
              <a:buNone/>
            </a:pPr>
            <a:r>
              <a:rPr lang="vi-VN" altLang="en-US" sz="2700" b="1" dirty="0">
                <a:solidFill>
                  <a:srgbClr val="FFFFFF"/>
                </a:solidFill>
                <a:latin typeface="Times New Roman" pitchFamily="34" charset="0"/>
                <a:ea typeface="Times New Roman" pitchFamily="34" charset="-122"/>
                <a:cs typeface="Times New Roman" pitchFamily="34" charset="-120"/>
              </a:rPr>
              <a:t>Tăng Phước Thịnh</a:t>
            </a:r>
            <a:endParaRPr lang="vi-VN" sz="2700" dirty="0"/>
          </a:p>
        </p:txBody>
      </p:sp>
      <p:sp>
        <p:nvSpPr>
          <p:cNvPr id="6" name="editable-text-004"/>
          <p:cNvSpPr/>
          <p:nvPr/>
        </p:nvSpPr>
        <p:spPr>
          <a:xfrm>
            <a:off x="894080" y="1950720"/>
            <a:ext cx="1742916" cy="365760"/>
          </a:xfrm>
          <a:prstGeom prst="rect">
            <a:avLst/>
          </a:prstGeom>
          <a:noFill/>
          <a:ln/>
        </p:spPr>
        <p:txBody>
          <a:bodyPr wrap="none" lIns="0" tIns="0" rIns="0" bIns="0" rtlCol="0" anchor="t"/>
          <a:lstStyle/>
          <a:p>
            <a:pPr algn="l" indent="0" marL="0">
              <a:buNone/>
            </a:pPr>
            <a:r>
              <a:rPr lang="vi-VN" altLang="en-US" sz="1500" dirty="0">
                <a:solidFill>
                  <a:srgbClr val="BFDBFE"/>
                </a:solidFill>
                <a:latin typeface="Times New Roman" pitchFamily="34" charset="0"/>
                <a:ea typeface="Times New Roman" pitchFamily="34" charset="-122"/>
                <a:cs typeface="Times New Roman" pitchFamily="34" charset="-120"/>
              </a:rPr>
              <a:t>MSSV: 25730071</a:t>
            </a:r>
            <a:endParaRPr lang="vi-VN" sz="1500" dirty="0"/>
          </a:p>
        </p:txBody>
      </p:sp>
      <p:sp>
        <p:nvSpPr>
          <p:cNvPr id="7" name="editable-text-005"/>
          <p:cNvSpPr/>
          <p:nvPr/>
        </p:nvSpPr>
        <p:spPr>
          <a:xfrm>
            <a:off x="10728801" y="1686560"/>
            <a:ext cx="447199" cy="406400"/>
          </a:xfrm>
          <a:prstGeom prst="rect">
            <a:avLst/>
          </a:prstGeom>
          <a:noFill/>
          <a:ln/>
        </p:spPr>
        <p:txBody>
          <a:bodyPr wrap="none" lIns="0" tIns="0" rIns="0" bIns="0" rtlCol="0" anchor="t"/>
          <a:lstStyle/>
          <a:p>
            <a:pPr algn="l" indent="0" marL="0">
              <a:buNone/>
            </a:pPr>
            <a:r>
              <a:rPr lang="vi-VN" altLang="en-US" sz="1800" b="1" dirty="0">
                <a:solidFill>
                  <a:srgbClr val="1E3A8A"/>
                </a:solidFill>
                <a:latin typeface="Times New Roman" pitchFamily="34" charset="0"/>
                <a:ea typeface="Times New Roman" pitchFamily="34" charset="-122"/>
                <a:cs typeface="Times New Roman" pitchFamily="34" charset="-120"/>
              </a:rPr>
              <a:t>T</a:t>
            </a:r>
            <a:endParaRPr lang="vi-VN" sz="1800" dirty="0"/>
          </a:p>
        </p:txBody>
      </p:sp>
      <p:sp>
        <p:nvSpPr>
          <p:cNvPr id="8" name="editable-text-006"/>
          <p:cNvSpPr/>
          <p:nvPr/>
        </p:nvSpPr>
        <p:spPr>
          <a:xfrm>
            <a:off x="975360" y="3068320"/>
            <a:ext cx="3172142" cy="406400"/>
          </a:xfrm>
          <a:prstGeom prst="rect">
            <a:avLst/>
          </a:prstGeom>
          <a:noFill/>
          <a:ln/>
        </p:spPr>
        <p:txBody>
          <a:bodyPr wrap="none" lIns="0" tIns="0" rIns="0" bIns="0" rtlCol="0" anchor="t"/>
          <a:lstStyle/>
          <a:p>
            <a:pPr algn="l"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PHÂN CÔNG NHIỆM VỤ:</a:t>
            </a:r>
            <a:endParaRPr lang="vi-VN" sz="1800" dirty="0"/>
          </a:p>
        </p:txBody>
      </p:sp>
      <p:sp>
        <p:nvSpPr>
          <p:cNvPr id="9" name="editable-text-007"/>
          <p:cNvSpPr/>
          <p:nvPr/>
        </p:nvSpPr>
        <p:spPr>
          <a:xfrm>
            <a:off x="975360" y="358648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0" name="editable-text-008"/>
          <p:cNvSpPr/>
          <p:nvPr/>
        </p:nvSpPr>
        <p:spPr>
          <a:xfrm>
            <a:off x="1244759" y="3637280"/>
            <a:ext cx="4622165" cy="406400"/>
          </a:xfrm>
          <a:prstGeom prst="rect">
            <a:avLst/>
          </a:prstGeom>
          <a:noFill/>
          <a:ln/>
        </p:spPr>
        <p:txBody>
          <a:bodyPr wrap="squar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Thu thập dữ liệu thời tiết (Climate Crawler).</a:t>
            </a:r>
            <a:endParaRPr lang="vi-VN" sz="1800" dirty="0"/>
          </a:p>
        </p:txBody>
      </p:sp>
      <p:sp>
        <p:nvSpPr>
          <p:cNvPr id="11" name="editable-text-009"/>
          <p:cNvSpPr/>
          <p:nvPr/>
        </p:nvSpPr>
        <p:spPr>
          <a:xfrm>
            <a:off x="975360" y="415544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2" name="editable-text-010"/>
          <p:cNvSpPr/>
          <p:nvPr/>
        </p:nvSpPr>
        <p:spPr>
          <a:xfrm>
            <a:off x="1244759" y="4206240"/>
            <a:ext cx="3548697" cy="406400"/>
          </a:xfrm>
          <a:prstGeom prst="rect">
            <a:avLst/>
          </a:prstGeom>
          <a:noFill/>
          <a:ln/>
        </p:spPr>
        <p:txBody>
          <a:bodyPr wrap="non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Xây dựng tài liệu nghiên cứu giá.</a:t>
            </a:r>
            <a:endParaRPr lang="vi-VN" sz="1800" dirty="0"/>
          </a:p>
        </p:txBody>
      </p:sp>
      <p:sp>
        <p:nvSpPr>
          <p:cNvPr id="13" name="editable-text-011"/>
          <p:cNvSpPr/>
          <p:nvPr/>
        </p:nvSpPr>
        <p:spPr>
          <a:xfrm>
            <a:off x="975360" y="472440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4" name="editable-text-012"/>
          <p:cNvSpPr/>
          <p:nvPr/>
        </p:nvSpPr>
        <p:spPr>
          <a:xfrm>
            <a:off x="1244759" y="4775200"/>
            <a:ext cx="2729389" cy="406400"/>
          </a:xfrm>
          <a:prstGeom prst="rect">
            <a:avLst/>
          </a:prstGeom>
          <a:noFill/>
          <a:ln/>
        </p:spPr>
        <p:txBody>
          <a:bodyPr wrap="non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Hỗ trợ thiết kế giao diện.</a:t>
            </a:r>
            <a:endParaRPr lang="vi-VN" sz="1800" dirty="0"/>
          </a:p>
        </p:txBody>
      </p:sp>
      <p:sp>
        <p:nvSpPr>
          <p:cNvPr id="15" name="editable-text-013"/>
          <p:cNvSpPr/>
          <p:nvPr/>
        </p:nvSpPr>
        <p:spPr>
          <a:xfrm>
            <a:off x="975360" y="529336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6" name="editable-text-014"/>
          <p:cNvSpPr/>
          <p:nvPr/>
        </p:nvSpPr>
        <p:spPr>
          <a:xfrm>
            <a:off x="1244759" y="5344160"/>
            <a:ext cx="2786697" cy="406400"/>
          </a:xfrm>
          <a:prstGeom prst="rect">
            <a:avLst/>
          </a:prstGeom>
          <a:noFill/>
          <a:ln/>
        </p:spPr>
        <p:txBody>
          <a:bodyPr wrap="non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Liên kết API với Web UI.</a:t>
            </a:r>
            <a:endParaRPr lang="vi-VN" sz="1800" dirty="0"/>
          </a:p>
        </p:txBody>
      </p:sp>
      <p:sp>
        <p:nvSpPr>
          <p:cNvPr id="17" name="editable-text-015"/>
          <p:cNvSpPr/>
          <p:nvPr/>
        </p:nvSpPr>
        <p:spPr>
          <a:xfrm>
            <a:off x="11450161" y="6441440"/>
            <a:ext cx="37592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3</a:t>
            </a:r>
            <a:endParaRPr lang="vi-VN" sz="1350" dirty="0"/>
          </a:p>
        </p:txBody>
      </p:sp>
      <p:sp>
        <p:nvSpPr>
          <p:cNvPr id="18" name="editable-text-016"/>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19" name="editable-text-017"/>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04-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80720"/>
            <a:ext cx="5689600"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TRƯỜNG ĐẠI HỌC CÔNG NGHỆ THÔNG TIN - ĐHQG-HCM</a:t>
            </a:r>
            <a:endParaRPr lang="vi-VN" sz="1350" dirty="0"/>
          </a:p>
        </p:txBody>
      </p:sp>
      <p:sp>
        <p:nvSpPr>
          <p:cNvPr id="4" name="editable-text-002"/>
          <p:cNvSpPr/>
          <p:nvPr/>
        </p:nvSpPr>
        <p:spPr>
          <a:xfrm>
            <a:off x="10447337" y="741680"/>
            <a:ext cx="3657600" cy="294640"/>
          </a:xfrm>
          <a:prstGeom prst="rect">
            <a:avLst/>
          </a:prstGeom>
          <a:noFill/>
          <a:ln/>
        </p:spPr>
        <p:txBody>
          <a:bodyPr wrap="none" lIns="0" tIns="0" rIns="0" bIns="0" rtlCol="0" anchor="t"/>
          <a:lstStyle/>
          <a:p>
            <a:pPr algn="l" indent="0" marL="0">
              <a:buNone/>
            </a:pPr>
            <a:r>
              <a:rPr lang="vi-VN" altLang="en-US" sz="1050" b="1" dirty="0">
                <a:solidFill>
                  <a:srgbClr val="6B7280"/>
                </a:solidFill>
                <a:latin typeface="Times New Roman" pitchFamily="34" charset="0"/>
                <a:ea typeface="Times New Roman" pitchFamily="34" charset="-122"/>
                <a:cs typeface="Times New Roman" pitchFamily="34" charset="-120"/>
              </a:rPr>
              <a:t>NHÓM 10 - DT10</a:t>
            </a:r>
            <a:endParaRPr lang="vi-VN" sz="1050" dirty="0"/>
          </a:p>
        </p:txBody>
      </p:sp>
      <p:sp>
        <p:nvSpPr>
          <p:cNvPr id="5" name="editable-text-003"/>
          <p:cNvSpPr/>
          <p:nvPr/>
        </p:nvSpPr>
        <p:spPr>
          <a:xfrm>
            <a:off x="894080" y="1432560"/>
            <a:ext cx="7315200" cy="589280"/>
          </a:xfrm>
          <a:prstGeom prst="rect">
            <a:avLst/>
          </a:prstGeom>
          <a:noFill/>
          <a:ln/>
        </p:spPr>
        <p:txBody>
          <a:bodyPr wrap="none" lIns="0" tIns="0" rIns="0" bIns="0" rtlCol="0" anchor="t"/>
          <a:lstStyle/>
          <a:p>
            <a:pPr algn="l" indent="0" marL="0">
              <a:buNone/>
            </a:pPr>
            <a:r>
              <a:rPr lang="vi-VN" altLang="en-US" sz="2700" b="1" dirty="0">
                <a:solidFill>
                  <a:srgbClr val="FFFFFF"/>
                </a:solidFill>
                <a:latin typeface="Times New Roman" pitchFamily="34" charset="0"/>
                <a:ea typeface="Times New Roman" pitchFamily="34" charset="-122"/>
                <a:cs typeface="Times New Roman" pitchFamily="34" charset="-120"/>
              </a:rPr>
              <a:t>Đặng Chí Thanh</a:t>
            </a:r>
            <a:endParaRPr lang="vi-VN" sz="2700" dirty="0"/>
          </a:p>
        </p:txBody>
      </p:sp>
      <p:sp>
        <p:nvSpPr>
          <p:cNvPr id="6" name="editable-text-004"/>
          <p:cNvSpPr/>
          <p:nvPr/>
        </p:nvSpPr>
        <p:spPr>
          <a:xfrm>
            <a:off x="894080" y="1950720"/>
            <a:ext cx="1742916" cy="365760"/>
          </a:xfrm>
          <a:prstGeom prst="rect">
            <a:avLst/>
          </a:prstGeom>
          <a:noFill/>
          <a:ln/>
        </p:spPr>
        <p:txBody>
          <a:bodyPr wrap="none" lIns="0" tIns="0" rIns="0" bIns="0" rtlCol="0" anchor="t"/>
          <a:lstStyle/>
          <a:p>
            <a:pPr algn="l" indent="0" marL="0">
              <a:buNone/>
            </a:pPr>
            <a:r>
              <a:rPr lang="vi-VN" altLang="en-US" sz="1500" dirty="0">
                <a:solidFill>
                  <a:srgbClr val="BFDBFE"/>
                </a:solidFill>
                <a:latin typeface="Times New Roman" pitchFamily="34" charset="0"/>
                <a:ea typeface="Times New Roman" pitchFamily="34" charset="-122"/>
                <a:cs typeface="Times New Roman" pitchFamily="34" charset="-120"/>
              </a:rPr>
              <a:t>MSSV: 25730067</a:t>
            </a:r>
            <a:endParaRPr lang="vi-VN" sz="1500" dirty="0"/>
          </a:p>
        </p:txBody>
      </p:sp>
      <p:sp>
        <p:nvSpPr>
          <p:cNvPr id="7" name="editable-text-005"/>
          <p:cNvSpPr/>
          <p:nvPr/>
        </p:nvSpPr>
        <p:spPr>
          <a:xfrm>
            <a:off x="10728801" y="1686560"/>
            <a:ext cx="447199" cy="406400"/>
          </a:xfrm>
          <a:prstGeom prst="rect">
            <a:avLst/>
          </a:prstGeom>
          <a:noFill/>
          <a:ln/>
        </p:spPr>
        <p:txBody>
          <a:bodyPr wrap="none" lIns="0" tIns="0" rIns="0" bIns="0" rtlCol="0" anchor="t"/>
          <a:lstStyle/>
          <a:p>
            <a:pPr algn="l" indent="0" marL="0">
              <a:buNone/>
            </a:pPr>
            <a:r>
              <a:rPr lang="vi-VN" altLang="en-US" sz="1800" b="1" dirty="0">
                <a:solidFill>
                  <a:srgbClr val="1E3A8A"/>
                </a:solidFill>
                <a:latin typeface="Times New Roman" pitchFamily="34" charset="0"/>
                <a:ea typeface="Times New Roman" pitchFamily="34" charset="-122"/>
                <a:cs typeface="Times New Roman" pitchFamily="34" charset="-120"/>
              </a:rPr>
              <a:t>T</a:t>
            </a:r>
            <a:endParaRPr lang="vi-VN" sz="1800" dirty="0"/>
          </a:p>
        </p:txBody>
      </p:sp>
      <p:sp>
        <p:nvSpPr>
          <p:cNvPr id="8" name="editable-text-006"/>
          <p:cNvSpPr/>
          <p:nvPr/>
        </p:nvSpPr>
        <p:spPr>
          <a:xfrm>
            <a:off x="975360" y="3068320"/>
            <a:ext cx="3172142" cy="406400"/>
          </a:xfrm>
          <a:prstGeom prst="rect">
            <a:avLst/>
          </a:prstGeom>
          <a:noFill/>
          <a:ln/>
        </p:spPr>
        <p:txBody>
          <a:bodyPr wrap="none" lIns="0" tIns="0" rIns="0" bIns="0" rtlCol="0" anchor="t"/>
          <a:lstStyle/>
          <a:p>
            <a:pPr algn="l"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PHÂN CÔNG NHIỆM VỤ:</a:t>
            </a:r>
            <a:endParaRPr lang="vi-VN" sz="1800" dirty="0"/>
          </a:p>
        </p:txBody>
      </p:sp>
      <p:sp>
        <p:nvSpPr>
          <p:cNvPr id="9" name="editable-text-007"/>
          <p:cNvSpPr/>
          <p:nvPr/>
        </p:nvSpPr>
        <p:spPr>
          <a:xfrm>
            <a:off x="975360" y="358648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0" name="editable-text-008"/>
          <p:cNvSpPr/>
          <p:nvPr/>
        </p:nvSpPr>
        <p:spPr>
          <a:xfrm>
            <a:off x="1244759" y="3637280"/>
            <a:ext cx="6873081" cy="406400"/>
          </a:xfrm>
          <a:prstGeom prst="rect">
            <a:avLst/>
          </a:prstGeom>
          <a:noFill/>
          <a:ln/>
        </p:spPr>
        <p:txBody>
          <a:bodyPr wrap="squar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Kỹ thuật Machine Learning (Feature Engineering, Random Forest).</a:t>
            </a:r>
            <a:endParaRPr lang="vi-VN" sz="1800" dirty="0"/>
          </a:p>
        </p:txBody>
      </p:sp>
      <p:sp>
        <p:nvSpPr>
          <p:cNvPr id="11" name="editable-text-009"/>
          <p:cNvSpPr/>
          <p:nvPr/>
        </p:nvSpPr>
        <p:spPr>
          <a:xfrm>
            <a:off x="975360" y="415544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2" name="editable-text-010"/>
          <p:cNvSpPr/>
          <p:nvPr/>
        </p:nvSpPr>
        <p:spPr>
          <a:xfrm>
            <a:off x="1244759" y="4206240"/>
            <a:ext cx="4036536" cy="406400"/>
          </a:xfrm>
          <a:prstGeom prst="rect">
            <a:avLst/>
          </a:prstGeom>
          <a:noFill/>
          <a:ln/>
        </p:spPr>
        <p:txBody>
          <a:bodyPr wrap="non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Phát triển Backend API bằng FastAPI.</a:t>
            </a:r>
            <a:endParaRPr lang="vi-VN" sz="1800" dirty="0"/>
          </a:p>
        </p:txBody>
      </p:sp>
      <p:sp>
        <p:nvSpPr>
          <p:cNvPr id="13" name="editable-text-011"/>
          <p:cNvSpPr/>
          <p:nvPr/>
        </p:nvSpPr>
        <p:spPr>
          <a:xfrm>
            <a:off x="975360" y="472440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4" name="editable-text-012"/>
          <p:cNvSpPr/>
          <p:nvPr/>
        </p:nvSpPr>
        <p:spPr>
          <a:xfrm>
            <a:off x="1244759" y="4775200"/>
            <a:ext cx="5658644" cy="406400"/>
          </a:xfrm>
          <a:prstGeom prst="rect">
            <a:avLst/>
          </a:prstGeom>
          <a:noFill/>
          <a:ln/>
        </p:spPr>
        <p:txBody>
          <a:bodyPr wrap="squar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Phụ trách AI Bền vững: Trục Reliability (Tính tin cậy).</a:t>
            </a:r>
            <a:endParaRPr lang="vi-VN" sz="1800" dirty="0"/>
          </a:p>
        </p:txBody>
      </p:sp>
      <p:sp>
        <p:nvSpPr>
          <p:cNvPr id="15" name="editable-text-013"/>
          <p:cNvSpPr/>
          <p:nvPr/>
        </p:nvSpPr>
        <p:spPr>
          <a:xfrm>
            <a:off x="975360" y="529336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6" name="editable-text-014"/>
          <p:cNvSpPr/>
          <p:nvPr/>
        </p:nvSpPr>
        <p:spPr>
          <a:xfrm>
            <a:off x="1244759" y="5344160"/>
            <a:ext cx="6376511" cy="406400"/>
          </a:xfrm>
          <a:prstGeom prst="rect">
            <a:avLst/>
          </a:prstGeom>
          <a:noFill/>
          <a:ln/>
        </p:spPr>
        <p:txBody>
          <a:bodyPr wrap="squar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Phụ trách AI Bền vững: Trục Explainability (Tính minh bạch).</a:t>
            </a:r>
            <a:endParaRPr lang="vi-VN" sz="1800" dirty="0"/>
          </a:p>
        </p:txBody>
      </p:sp>
      <p:sp>
        <p:nvSpPr>
          <p:cNvPr id="17" name="editable-text-015"/>
          <p:cNvSpPr/>
          <p:nvPr/>
        </p:nvSpPr>
        <p:spPr>
          <a:xfrm>
            <a:off x="11450161" y="6441440"/>
            <a:ext cx="37592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4</a:t>
            </a:r>
            <a:endParaRPr lang="vi-VN" sz="1350" dirty="0"/>
          </a:p>
        </p:txBody>
      </p:sp>
      <p:sp>
        <p:nvSpPr>
          <p:cNvPr id="18" name="editable-text-016"/>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19" name="editable-text-017"/>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05-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80720"/>
            <a:ext cx="5689600"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TRƯỜNG ĐẠI HỌC CÔNG NGHỆ THÔNG TIN - ĐHQG-HCM</a:t>
            </a:r>
            <a:endParaRPr lang="vi-VN" sz="1350" dirty="0"/>
          </a:p>
        </p:txBody>
      </p:sp>
      <p:sp>
        <p:nvSpPr>
          <p:cNvPr id="4" name="editable-text-002"/>
          <p:cNvSpPr/>
          <p:nvPr/>
        </p:nvSpPr>
        <p:spPr>
          <a:xfrm>
            <a:off x="10447337" y="741680"/>
            <a:ext cx="3657600" cy="294640"/>
          </a:xfrm>
          <a:prstGeom prst="rect">
            <a:avLst/>
          </a:prstGeom>
          <a:noFill/>
          <a:ln/>
        </p:spPr>
        <p:txBody>
          <a:bodyPr wrap="none" lIns="0" tIns="0" rIns="0" bIns="0" rtlCol="0" anchor="t"/>
          <a:lstStyle/>
          <a:p>
            <a:pPr algn="l" indent="0" marL="0">
              <a:buNone/>
            </a:pPr>
            <a:r>
              <a:rPr lang="vi-VN" altLang="en-US" sz="1050" b="1" dirty="0">
                <a:solidFill>
                  <a:srgbClr val="6B7280"/>
                </a:solidFill>
                <a:latin typeface="Times New Roman" pitchFamily="34" charset="0"/>
                <a:ea typeface="Times New Roman" pitchFamily="34" charset="-122"/>
                <a:cs typeface="Times New Roman" pitchFamily="34" charset="-120"/>
              </a:rPr>
              <a:t>NHÓM 10 - DT10</a:t>
            </a:r>
            <a:endParaRPr lang="vi-VN" sz="1050" dirty="0"/>
          </a:p>
        </p:txBody>
      </p:sp>
      <p:sp>
        <p:nvSpPr>
          <p:cNvPr id="5" name="editable-text-003"/>
          <p:cNvSpPr/>
          <p:nvPr/>
        </p:nvSpPr>
        <p:spPr>
          <a:xfrm>
            <a:off x="894080" y="1432560"/>
            <a:ext cx="7315200" cy="589280"/>
          </a:xfrm>
          <a:prstGeom prst="rect">
            <a:avLst/>
          </a:prstGeom>
          <a:noFill/>
          <a:ln/>
        </p:spPr>
        <p:txBody>
          <a:bodyPr wrap="none" lIns="0" tIns="0" rIns="0" bIns="0" rtlCol="0" anchor="t"/>
          <a:lstStyle/>
          <a:p>
            <a:pPr algn="l" indent="0" marL="0">
              <a:buNone/>
            </a:pPr>
            <a:r>
              <a:rPr lang="vi-VN" altLang="en-US" sz="2700" b="1" dirty="0">
                <a:solidFill>
                  <a:srgbClr val="FFFFFF"/>
                </a:solidFill>
                <a:latin typeface="Times New Roman" pitchFamily="34" charset="0"/>
                <a:ea typeface="Times New Roman" pitchFamily="34" charset="-122"/>
                <a:cs typeface="Times New Roman" pitchFamily="34" charset="-120"/>
              </a:rPr>
              <a:t>Hoàng Cao Sơn</a:t>
            </a:r>
            <a:endParaRPr lang="vi-VN" sz="2700" dirty="0"/>
          </a:p>
        </p:txBody>
      </p:sp>
      <p:sp>
        <p:nvSpPr>
          <p:cNvPr id="6" name="editable-text-004"/>
          <p:cNvSpPr/>
          <p:nvPr/>
        </p:nvSpPr>
        <p:spPr>
          <a:xfrm>
            <a:off x="894080" y="1950720"/>
            <a:ext cx="1742916" cy="365760"/>
          </a:xfrm>
          <a:prstGeom prst="rect">
            <a:avLst/>
          </a:prstGeom>
          <a:noFill/>
          <a:ln/>
        </p:spPr>
        <p:txBody>
          <a:bodyPr wrap="none" lIns="0" tIns="0" rIns="0" bIns="0" rtlCol="0" anchor="t"/>
          <a:lstStyle/>
          <a:p>
            <a:pPr algn="l" indent="0" marL="0">
              <a:buNone/>
            </a:pPr>
            <a:r>
              <a:rPr lang="vi-VN" altLang="en-US" sz="1500" dirty="0">
                <a:solidFill>
                  <a:srgbClr val="BFDBFE"/>
                </a:solidFill>
                <a:latin typeface="Times New Roman" pitchFamily="34" charset="0"/>
                <a:ea typeface="Times New Roman" pitchFamily="34" charset="-122"/>
                <a:cs typeface="Times New Roman" pitchFamily="34" charset="-120"/>
              </a:rPr>
              <a:t>MSSV: 25730061</a:t>
            </a:r>
            <a:endParaRPr lang="vi-VN" sz="1500" dirty="0"/>
          </a:p>
        </p:txBody>
      </p:sp>
      <p:sp>
        <p:nvSpPr>
          <p:cNvPr id="7" name="editable-text-005"/>
          <p:cNvSpPr/>
          <p:nvPr/>
        </p:nvSpPr>
        <p:spPr>
          <a:xfrm>
            <a:off x="10742295" y="1686560"/>
            <a:ext cx="420211" cy="406400"/>
          </a:xfrm>
          <a:prstGeom prst="rect">
            <a:avLst/>
          </a:prstGeom>
          <a:noFill/>
          <a:ln/>
        </p:spPr>
        <p:txBody>
          <a:bodyPr wrap="none" lIns="0" tIns="0" rIns="0" bIns="0" rtlCol="0" anchor="t"/>
          <a:lstStyle/>
          <a:p>
            <a:pPr algn="l" indent="0" marL="0">
              <a:buNone/>
            </a:pPr>
            <a:r>
              <a:rPr lang="vi-VN" altLang="en-US" sz="1800" b="1" dirty="0">
                <a:solidFill>
                  <a:srgbClr val="1E3A8A"/>
                </a:solidFill>
                <a:latin typeface="Times New Roman" pitchFamily="34" charset="0"/>
                <a:ea typeface="Times New Roman" pitchFamily="34" charset="-122"/>
                <a:cs typeface="Times New Roman" pitchFamily="34" charset="-120"/>
              </a:rPr>
              <a:t>S</a:t>
            </a:r>
            <a:endParaRPr lang="vi-VN" sz="1800" dirty="0"/>
          </a:p>
        </p:txBody>
      </p:sp>
      <p:sp>
        <p:nvSpPr>
          <p:cNvPr id="8" name="editable-text-006"/>
          <p:cNvSpPr/>
          <p:nvPr/>
        </p:nvSpPr>
        <p:spPr>
          <a:xfrm>
            <a:off x="975360" y="3068320"/>
            <a:ext cx="3172142" cy="406400"/>
          </a:xfrm>
          <a:prstGeom prst="rect">
            <a:avLst/>
          </a:prstGeom>
          <a:noFill/>
          <a:ln/>
        </p:spPr>
        <p:txBody>
          <a:bodyPr wrap="none" lIns="0" tIns="0" rIns="0" bIns="0" rtlCol="0" anchor="t"/>
          <a:lstStyle/>
          <a:p>
            <a:pPr algn="l"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PHÂN CÔNG NHIỆM VỤ:</a:t>
            </a:r>
            <a:endParaRPr lang="vi-VN" sz="1800" dirty="0"/>
          </a:p>
        </p:txBody>
      </p:sp>
      <p:sp>
        <p:nvSpPr>
          <p:cNvPr id="9" name="editable-text-007"/>
          <p:cNvSpPr/>
          <p:nvPr/>
        </p:nvSpPr>
        <p:spPr>
          <a:xfrm>
            <a:off x="975360" y="358648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0" name="editable-text-008"/>
          <p:cNvSpPr/>
          <p:nvPr/>
        </p:nvSpPr>
        <p:spPr>
          <a:xfrm>
            <a:off x="1244759" y="3637280"/>
            <a:ext cx="5088890" cy="406400"/>
          </a:xfrm>
          <a:prstGeom prst="rect">
            <a:avLst/>
          </a:prstGeom>
          <a:noFill/>
          <a:ln/>
        </p:spPr>
        <p:txBody>
          <a:bodyPr wrap="squar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Đánh giá và kiểm toán dữ liệu (Real Data Audit).</a:t>
            </a:r>
            <a:endParaRPr lang="vi-VN" sz="1800" dirty="0"/>
          </a:p>
        </p:txBody>
      </p:sp>
      <p:sp>
        <p:nvSpPr>
          <p:cNvPr id="11" name="editable-text-009"/>
          <p:cNvSpPr/>
          <p:nvPr/>
        </p:nvSpPr>
        <p:spPr>
          <a:xfrm>
            <a:off x="975360" y="415544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2" name="editable-text-010"/>
          <p:cNvSpPr/>
          <p:nvPr/>
        </p:nvSpPr>
        <p:spPr>
          <a:xfrm>
            <a:off x="1244759" y="4206240"/>
            <a:ext cx="4309745" cy="406400"/>
          </a:xfrm>
          <a:prstGeom prst="rect">
            <a:avLst/>
          </a:prstGeom>
          <a:noFill/>
          <a:ln/>
        </p:spPr>
        <p:txBody>
          <a:bodyPr wrap="squar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Viết kịch bản stress test tự động cho API.</a:t>
            </a:r>
            <a:endParaRPr lang="vi-VN" sz="1800" dirty="0"/>
          </a:p>
        </p:txBody>
      </p:sp>
      <p:sp>
        <p:nvSpPr>
          <p:cNvPr id="13" name="editable-text-011"/>
          <p:cNvSpPr/>
          <p:nvPr/>
        </p:nvSpPr>
        <p:spPr>
          <a:xfrm>
            <a:off x="975360" y="472440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4" name="editable-text-012"/>
          <p:cNvSpPr/>
          <p:nvPr/>
        </p:nvSpPr>
        <p:spPr>
          <a:xfrm>
            <a:off x="1244759" y="4775200"/>
            <a:ext cx="5814695" cy="406400"/>
          </a:xfrm>
          <a:prstGeom prst="rect">
            <a:avLst/>
          </a:prstGeom>
          <a:noFill/>
          <a:ln/>
        </p:spPr>
        <p:txBody>
          <a:bodyPr wrap="squar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Phụ trách AI Bền vững: Trục Robustness (Kháng nhiễu).</a:t>
            </a:r>
            <a:endParaRPr lang="vi-VN" sz="1800" dirty="0"/>
          </a:p>
        </p:txBody>
      </p:sp>
      <p:sp>
        <p:nvSpPr>
          <p:cNvPr id="15" name="editable-text-013"/>
          <p:cNvSpPr/>
          <p:nvPr/>
        </p:nvSpPr>
        <p:spPr>
          <a:xfrm>
            <a:off x="975360" y="529336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6" name="editable-text-014"/>
          <p:cNvSpPr/>
          <p:nvPr/>
        </p:nvSpPr>
        <p:spPr>
          <a:xfrm>
            <a:off x="1244759" y="5344160"/>
            <a:ext cx="5360670" cy="406400"/>
          </a:xfrm>
          <a:prstGeom prst="rect">
            <a:avLst/>
          </a:prstGeom>
          <a:noFill/>
          <a:ln/>
        </p:spPr>
        <p:txBody>
          <a:bodyPr wrap="square" lIns="0" tIns="0" rIns="0" bIns="0" rtlCol="0" anchor="t"/>
          <a:lstStyle/>
          <a:p>
            <a:pPr algn="l" indent="0" marL="0">
              <a:buNone/>
            </a:pPr>
            <a:r>
              <a:rPr lang="vi-VN" altLang="en-US" sz="1800" dirty="0">
                <a:solidFill>
                  <a:srgbClr val="374151"/>
                </a:solidFill>
                <a:latin typeface="Times New Roman" pitchFamily="34" charset="0"/>
                <a:ea typeface="Times New Roman" pitchFamily="34" charset="-122"/>
                <a:cs typeface="Times New Roman" pitchFamily="34" charset="-120"/>
              </a:rPr>
              <a:t>Phụ trách AI Bền vững: Trục Bias (Tính thiên lệch).</a:t>
            </a:r>
            <a:endParaRPr lang="vi-VN" sz="1800" dirty="0"/>
          </a:p>
        </p:txBody>
      </p:sp>
      <p:sp>
        <p:nvSpPr>
          <p:cNvPr id="17" name="editable-text-015"/>
          <p:cNvSpPr/>
          <p:nvPr/>
        </p:nvSpPr>
        <p:spPr>
          <a:xfrm>
            <a:off x="11450161" y="6441440"/>
            <a:ext cx="37592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5</a:t>
            </a:r>
            <a:endParaRPr lang="vi-VN" sz="1350" dirty="0"/>
          </a:p>
        </p:txBody>
      </p:sp>
      <p:sp>
        <p:nvSpPr>
          <p:cNvPr id="18" name="editable-text-016"/>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19" name="editable-text-017"/>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06-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4008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BỐI CẢNH &amp; VẤN ĐỀ NÔNG HỘ</a:t>
            </a:r>
            <a:endParaRPr lang="vi-VN" sz="2700" dirty="0"/>
          </a:p>
        </p:txBody>
      </p:sp>
      <p:sp>
        <p:nvSpPr>
          <p:cNvPr id="4" name="editable-text-002"/>
          <p:cNvSpPr/>
          <p:nvPr/>
        </p:nvSpPr>
        <p:spPr>
          <a:xfrm>
            <a:off x="8364855" y="66040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9804717" y="89408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812800" y="2637631"/>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7" name="editable-text-005"/>
          <p:cNvSpPr/>
          <p:nvPr/>
        </p:nvSpPr>
        <p:spPr>
          <a:xfrm>
            <a:off x="1082199" y="2647791"/>
            <a:ext cx="5650865" cy="815816"/>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Biến đổi khí hậu cực đoan:</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Nhiệt độ tăng, lượng mưa thất thường ảnh hưởng trực tiếp năng suất.</a:t>
            </a:r>
            <a:endParaRPr lang="vi-VN" sz="1980" dirty="0"/>
          </a:p>
        </p:txBody>
      </p:sp>
      <p:sp>
        <p:nvSpPr>
          <p:cNvPr id="8" name="editable-text-006"/>
          <p:cNvSpPr/>
          <p:nvPr/>
        </p:nvSpPr>
        <p:spPr>
          <a:xfrm>
            <a:off x="812800" y="3619024"/>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9" name="editable-text-007"/>
          <p:cNvSpPr/>
          <p:nvPr/>
        </p:nvSpPr>
        <p:spPr>
          <a:xfrm>
            <a:off x="1082199" y="3629184"/>
            <a:ext cx="5486400" cy="815816"/>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Bất đối xứng thông tin thị trường:</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Nông dân thiếu dữ liệu khách quan, dễ bị ép giá.</a:t>
            </a:r>
            <a:endParaRPr lang="vi-VN" sz="1980" dirty="0"/>
          </a:p>
        </p:txBody>
      </p:sp>
      <p:sp>
        <p:nvSpPr>
          <p:cNvPr id="10" name="editable-text-008"/>
          <p:cNvSpPr/>
          <p:nvPr/>
        </p:nvSpPr>
        <p:spPr>
          <a:xfrm>
            <a:off x="812800" y="4600416"/>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1" name="editable-text-009"/>
          <p:cNvSpPr/>
          <p:nvPr/>
        </p:nvSpPr>
        <p:spPr>
          <a:xfrm>
            <a:off x="1082199" y="4610576"/>
            <a:ext cx="5486400" cy="815816"/>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Quyết định cảm tính:</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Việc canh tác, bán hàng phần lớn dựa dẫm kinh nghiệm truyền thống.</a:t>
            </a:r>
            <a:endParaRPr lang="vi-VN" sz="1980" dirty="0"/>
          </a:p>
        </p:txBody>
      </p:sp>
      <p:sp>
        <p:nvSpPr>
          <p:cNvPr id="12" name="editable-text-010"/>
          <p:cNvSpPr/>
          <p:nvPr/>
        </p:nvSpPr>
        <p:spPr>
          <a:xfrm>
            <a:off x="11450161" y="6441440"/>
            <a:ext cx="37592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6</a:t>
            </a:r>
            <a:endParaRPr lang="vi-VN" sz="1350" dirty="0"/>
          </a:p>
        </p:txBody>
      </p:sp>
      <p:sp>
        <p:nvSpPr>
          <p:cNvPr id="13" name="editable-text-011"/>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14" name="editable-text-012"/>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07-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4008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MỤC TIÊU &amp; PHẠM VI</a:t>
            </a:r>
            <a:endParaRPr lang="vi-VN" sz="2700" dirty="0"/>
          </a:p>
        </p:txBody>
      </p:sp>
      <p:sp>
        <p:nvSpPr>
          <p:cNvPr id="4" name="editable-text-002"/>
          <p:cNvSpPr/>
          <p:nvPr/>
        </p:nvSpPr>
        <p:spPr>
          <a:xfrm>
            <a:off x="8364855" y="66040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9804717" y="89408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812800" y="2723356"/>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7" name="editable-text-005"/>
          <p:cNvSpPr/>
          <p:nvPr/>
        </p:nvSpPr>
        <p:spPr>
          <a:xfrm>
            <a:off x="1082199" y="2733516"/>
            <a:ext cx="6217285"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Mục tiêu cốt lõi:</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Cung cấp công cụ dự báo giá và khuyến nghị canh tác.</a:t>
            </a:r>
            <a:endParaRPr lang="vi-VN" sz="1980" dirty="0"/>
          </a:p>
        </p:txBody>
      </p:sp>
      <p:sp>
        <p:nvSpPr>
          <p:cNvPr id="8" name="editable-text-006"/>
          <p:cNvSpPr/>
          <p:nvPr/>
        </p:nvSpPr>
        <p:spPr>
          <a:xfrm>
            <a:off x="812800" y="3335972"/>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9" name="editable-text-007"/>
          <p:cNvSpPr/>
          <p:nvPr/>
        </p:nvSpPr>
        <p:spPr>
          <a:xfrm>
            <a:off x="1082199" y="3346132"/>
            <a:ext cx="6311900"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Định hướng thiết kế:</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Hiện thực hóa 5 Trụ cột AI Bền vững (Responsible AI).</a:t>
            </a:r>
            <a:endParaRPr lang="vi-VN" sz="1980" dirty="0"/>
          </a:p>
        </p:txBody>
      </p:sp>
      <p:sp>
        <p:nvSpPr>
          <p:cNvPr id="10" name="editable-text-008"/>
          <p:cNvSpPr/>
          <p:nvPr/>
        </p:nvSpPr>
        <p:spPr>
          <a:xfrm>
            <a:off x="812800" y="3948589"/>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1" name="editable-text-009"/>
          <p:cNvSpPr/>
          <p:nvPr/>
        </p:nvSpPr>
        <p:spPr>
          <a:xfrm>
            <a:off x="1082199" y="3958749"/>
            <a:ext cx="5486400"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Phạm vi áp dụng:</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5 tỉnh Tây Nguyên (2022–2025).</a:t>
            </a:r>
            <a:endParaRPr lang="vi-VN" sz="1980" dirty="0"/>
          </a:p>
        </p:txBody>
      </p:sp>
      <p:sp>
        <p:nvSpPr>
          <p:cNvPr id="12" name="editable-text-010"/>
          <p:cNvSpPr/>
          <p:nvPr/>
        </p:nvSpPr>
        <p:spPr>
          <a:xfrm>
            <a:off x="853440" y="5781040"/>
            <a:ext cx="902811" cy="365760"/>
          </a:xfrm>
          <a:prstGeom prst="rect">
            <a:avLst/>
          </a:prstGeom>
          <a:noFill/>
          <a:ln/>
        </p:spPr>
        <p:txBody>
          <a:bodyPr wrap="none" lIns="0" tIns="0" rIns="0" bIns="0" rtlCol="0" anchor="t"/>
          <a:lstStyle/>
          <a:p>
            <a:pPr algn="l" indent="0" marL="0">
              <a:buNone/>
            </a:pPr>
            <a:r>
              <a:rPr lang="vi-VN" altLang="en-US" sz="1500" b="1" i="1" dirty="0">
                <a:solidFill>
                  <a:srgbClr val="374151"/>
                </a:solidFill>
                <a:latin typeface="Times New Roman" pitchFamily="34" charset="0"/>
                <a:ea typeface="Times New Roman" pitchFamily="34" charset="-122"/>
                <a:cs typeface="Times New Roman" pitchFamily="34" charset="-120"/>
              </a:rPr>
              <a:t>Lưu ý:</a:t>
            </a:r>
            <a:endParaRPr lang="vi-VN" sz="1500" dirty="0"/>
          </a:p>
        </p:txBody>
      </p:sp>
      <p:sp>
        <p:nvSpPr>
          <p:cNvPr id="13" name="editable-text-011"/>
          <p:cNvSpPr/>
          <p:nvPr/>
        </p:nvSpPr>
        <p:spPr>
          <a:xfrm>
            <a:off x="1471771" y="5781040"/>
            <a:ext cx="7996555" cy="365760"/>
          </a:xfrm>
          <a:prstGeom prst="rect">
            <a:avLst/>
          </a:prstGeom>
          <a:noFill/>
          <a:ln/>
        </p:spPr>
        <p:txBody>
          <a:bodyPr wrap="square" lIns="0" tIns="0" rIns="0" bIns="0" rtlCol="0" anchor="t"/>
          <a:lstStyle/>
          <a:p>
            <a:pPr algn="l" indent="0" marL="0">
              <a:buNone/>
            </a:pPr>
            <a:r>
              <a:rPr lang="vi-VN" altLang="en-US" sz="1500" i="1" dirty="0">
                <a:solidFill>
                  <a:srgbClr val="374151"/>
                </a:solidFill>
                <a:latin typeface="Times New Roman" pitchFamily="34" charset="0"/>
                <a:ea typeface="Times New Roman" pitchFamily="34" charset="-122"/>
                <a:cs typeface="Times New Roman" pitchFamily="34" charset="-120"/>
              </a:rPr>
              <a:t>Hệ thống mang tính chất tham khảo học thuật. Không thay thế tư vấn chuyên môn/thương mại.</a:t>
            </a:r>
            <a:endParaRPr lang="vi-VN" sz="1500" dirty="0"/>
          </a:p>
        </p:txBody>
      </p:sp>
      <p:sp>
        <p:nvSpPr>
          <p:cNvPr id="14" name="editable-text-012"/>
          <p:cNvSpPr/>
          <p:nvPr/>
        </p:nvSpPr>
        <p:spPr>
          <a:xfrm>
            <a:off x="11450161" y="6441440"/>
            <a:ext cx="37592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7</a:t>
            </a:r>
            <a:endParaRPr lang="vi-VN" sz="1350" dirty="0"/>
          </a:p>
        </p:txBody>
      </p:sp>
      <p:sp>
        <p:nvSpPr>
          <p:cNvPr id="15" name="editable-text-013"/>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16" name="editable-text-014"/>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08-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406400" y="39624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QUY TRÌNH XỬ LÝ DỮ LIỆU</a:t>
            </a:r>
            <a:endParaRPr lang="vi-VN" sz="2700" dirty="0"/>
          </a:p>
        </p:txBody>
      </p:sp>
      <p:sp>
        <p:nvSpPr>
          <p:cNvPr id="4" name="editable-text-002"/>
          <p:cNvSpPr/>
          <p:nvPr/>
        </p:nvSpPr>
        <p:spPr>
          <a:xfrm>
            <a:off x="8608695" y="41656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10048557" y="65024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2133600" y="1452880"/>
            <a:ext cx="406400" cy="406400"/>
          </a:xfrm>
          <a:prstGeom prst="rect">
            <a:avLst/>
          </a:prstGeom>
          <a:noFill/>
          <a:ln/>
        </p:spPr>
        <p:txBody>
          <a:bodyPr wrap="none" lIns="0" tIns="0" rIns="0" bIns="0" rtlCol="0" anchor="t"/>
          <a:lstStyle/>
          <a:p>
            <a:pPr algn="ctr"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1</a:t>
            </a:r>
            <a:endParaRPr lang="vi-VN" sz="1800" dirty="0"/>
          </a:p>
        </p:txBody>
      </p:sp>
      <p:sp>
        <p:nvSpPr>
          <p:cNvPr id="7" name="editable-text-005"/>
          <p:cNvSpPr/>
          <p:nvPr/>
        </p:nvSpPr>
        <p:spPr>
          <a:xfrm>
            <a:off x="980122" y="1940560"/>
            <a:ext cx="2713355" cy="406400"/>
          </a:xfrm>
          <a:prstGeom prst="rect">
            <a:avLst/>
          </a:prstGeom>
          <a:noFill/>
          <a:ln/>
        </p:spPr>
        <p:txBody>
          <a:bodyPr wrap="none" lIns="0" tIns="0" rIns="0" bIns="0" rtlCol="0" anchor="t"/>
          <a:lstStyle/>
          <a:p>
            <a:pPr algn="ctr"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Dữ liệu thô hằng ngày</a:t>
            </a:r>
            <a:endParaRPr lang="vi-VN" sz="1800" dirty="0"/>
          </a:p>
        </p:txBody>
      </p:sp>
      <p:sp>
        <p:nvSpPr>
          <p:cNvPr id="8" name="editable-text-006"/>
          <p:cNvSpPr/>
          <p:nvPr/>
        </p:nvSpPr>
        <p:spPr>
          <a:xfrm>
            <a:off x="1152207" y="2296160"/>
            <a:ext cx="2369185" cy="335280"/>
          </a:xfrm>
          <a:prstGeom prst="rect">
            <a:avLst/>
          </a:prstGeom>
          <a:noFill/>
          <a:ln/>
        </p:spPr>
        <p:txBody>
          <a:bodyPr wrap="none" lIns="0" tIns="0" rIns="0" bIns="0" rtlCol="0" anchor="t"/>
          <a:lstStyle/>
          <a:p>
            <a:pPr algn="ctr" indent="0" marL="0">
              <a:buNone/>
            </a:pPr>
            <a:r>
              <a:rPr lang="vi-VN" altLang="en-US" sz="1200" i="1" dirty="0">
                <a:solidFill>
                  <a:srgbClr val="000000"/>
                </a:solidFill>
                <a:latin typeface="ui-serif" pitchFamily="34" charset="0"/>
                <a:ea typeface="ui-serif" pitchFamily="34" charset="-122"/>
                <a:cs typeface="ui-serif" pitchFamily="34" charset="-120"/>
              </a:rPr>
              <a:t>Raw Daily Prices &amp; Weather</a:t>
            </a:r>
            <a:endParaRPr lang="vi-VN" sz="1200" dirty="0"/>
          </a:p>
        </p:txBody>
      </p:sp>
      <p:sp>
        <p:nvSpPr>
          <p:cNvPr id="9" name="editable-text-007"/>
          <p:cNvSpPr/>
          <p:nvPr/>
        </p:nvSpPr>
        <p:spPr>
          <a:xfrm>
            <a:off x="790734" y="3566160"/>
            <a:ext cx="1114107" cy="490220"/>
          </a:xfrm>
          <a:prstGeom prst="rect">
            <a:avLst/>
          </a:prstGeom>
          <a:noFill/>
          <a:ln/>
        </p:spPr>
        <p:txBody>
          <a:bodyPr wrap="none" lIns="0" tIns="0" rIns="0" bIns="0" rtlCol="0" anchor="t"/>
          <a:lstStyle/>
          <a:p>
            <a:pPr algn="ctr" indent="0" marL="0">
              <a:buNone/>
            </a:pPr>
            <a:r>
              <a:rPr lang="vi-VN" altLang="en-US" sz="1050" dirty="0">
                <a:solidFill>
                  <a:srgbClr val="374151"/>
                </a:solidFill>
                <a:latin typeface="Times New Roman" pitchFamily="34" charset="0"/>
                <a:ea typeface="Times New Roman" pitchFamily="34" charset="-122"/>
                <a:cs typeface="Times New Roman" pitchFamily="34" charset="-120"/>
              </a:rPr>
              <a:t>Dữ liệu giá cà phê hằng ngày</a:t>
            </a:r>
            <a:endParaRPr lang="vi-VN" sz="1050" dirty="0"/>
          </a:p>
        </p:txBody>
      </p:sp>
      <p:sp>
        <p:nvSpPr>
          <p:cNvPr id="10" name="editable-text-008"/>
          <p:cNvSpPr/>
          <p:nvPr/>
        </p:nvSpPr>
        <p:spPr>
          <a:xfrm>
            <a:off x="1741011" y="3566160"/>
            <a:ext cx="1191419" cy="490220"/>
          </a:xfrm>
          <a:prstGeom prst="rect">
            <a:avLst/>
          </a:prstGeom>
          <a:noFill/>
          <a:ln/>
        </p:spPr>
        <p:txBody>
          <a:bodyPr wrap="none" lIns="0" tIns="0" rIns="0" bIns="0" rtlCol="0" anchor="t"/>
          <a:lstStyle/>
          <a:p>
            <a:pPr algn="ctr" indent="0" marL="0">
              <a:buNone/>
            </a:pPr>
            <a:r>
              <a:rPr lang="vi-VN" altLang="en-US" sz="1050" dirty="0">
                <a:solidFill>
                  <a:srgbClr val="374151"/>
                </a:solidFill>
                <a:latin typeface="Times New Roman" pitchFamily="34" charset="0"/>
                <a:ea typeface="Times New Roman" pitchFamily="34" charset="-122"/>
                <a:cs typeface="Times New Roman" pitchFamily="34" charset="-120"/>
              </a:rPr>
              <a:t>Dữ liệu thời tiết hằng ngày</a:t>
            </a:r>
            <a:endParaRPr lang="vi-VN" sz="1050" dirty="0"/>
          </a:p>
        </p:txBody>
      </p:sp>
      <p:sp>
        <p:nvSpPr>
          <p:cNvPr id="11" name="editable-text-009"/>
          <p:cNvSpPr/>
          <p:nvPr/>
        </p:nvSpPr>
        <p:spPr>
          <a:xfrm>
            <a:off x="2835751" y="3566160"/>
            <a:ext cx="979805" cy="294640"/>
          </a:xfrm>
          <a:prstGeom prst="rect">
            <a:avLst/>
          </a:prstGeom>
          <a:noFill/>
          <a:ln/>
        </p:spPr>
        <p:txBody>
          <a:bodyPr wrap="none" lIns="0" tIns="0" rIns="0" bIns="0" rtlCol="0" anchor="t"/>
          <a:lstStyle/>
          <a:p>
            <a:pPr algn="ctr" indent="0" marL="0">
              <a:buNone/>
            </a:pPr>
            <a:r>
              <a:rPr lang="vi-VN" altLang="en-US" sz="1050" dirty="0">
                <a:solidFill>
                  <a:srgbClr val="374151"/>
                </a:solidFill>
                <a:latin typeface="Times New Roman" pitchFamily="34" charset="0"/>
                <a:ea typeface="Times New Roman" pitchFamily="34" charset="-122"/>
                <a:cs typeface="Times New Roman" pitchFamily="34" charset="-120"/>
              </a:rPr>
              <a:t>Đầu vào thô</a:t>
            </a:r>
            <a:endParaRPr lang="vi-VN" sz="1050" dirty="0"/>
          </a:p>
        </p:txBody>
      </p:sp>
      <p:sp>
        <p:nvSpPr>
          <p:cNvPr id="12" name="editable-text-010"/>
          <p:cNvSpPr/>
          <p:nvPr/>
        </p:nvSpPr>
        <p:spPr>
          <a:xfrm>
            <a:off x="2865437" y="3761740"/>
            <a:ext cx="920432" cy="294640"/>
          </a:xfrm>
          <a:prstGeom prst="rect">
            <a:avLst/>
          </a:prstGeom>
          <a:noFill/>
          <a:ln/>
        </p:spPr>
        <p:txBody>
          <a:bodyPr wrap="none" lIns="0" tIns="0" rIns="0" bIns="0" rtlCol="0" anchor="t"/>
          <a:lstStyle/>
          <a:p>
            <a:pPr algn="ctr" indent="0" marL="0">
              <a:buNone/>
            </a:pPr>
            <a:r>
              <a:rPr lang="vi-VN" altLang="en-US" sz="1050" dirty="0">
                <a:solidFill>
                  <a:srgbClr val="374151"/>
                </a:solidFill>
                <a:latin typeface="Times New Roman" pitchFamily="34" charset="0"/>
                <a:ea typeface="Times New Roman" pitchFamily="34" charset="-122"/>
                <a:cs typeface="Times New Roman" pitchFamily="34" charset="-120"/>
              </a:rPr>
              <a:t>(raw input)</a:t>
            </a:r>
            <a:endParaRPr lang="vi-VN" sz="1050" dirty="0"/>
          </a:p>
        </p:txBody>
      </p:sp>
      <p:sp>
        <p:nvSpPr>
          <p:cNvPr id="13" name="editable-text-011"/>
          <p:cNvSpPr/>
          <p:nvPr/>
        </p:nvSpPr>
        <p:spPr>
          <a:xfrm>
            <a:off x="1198880" y="4273550"/>
            <a:ext cx="2329021" cy="558800"/>
          </a:xfrm>
          <a:prstGeom prst="rect">
            <a:avLst/>
          </a:prstGeom>
          <a:noFill/>
          <a:ln/>
        </p:spPr>
        <p:txBody>
          <a:bodyPr wrap="none" lIns="0" tIns="0" rIns="0" bIns="0" rtlCol="0" anchor="t"/>
          <a:lstStyle/>
          <a:p>
            <a:pPr algn="l" indent="0" marL="0">
              <a:buNone/>
            </a:pPr>
            <a:r>
              <a:rPr lang="vi-VN" altLang="en-US" sz="1200" b="1" dirty="0">
                <a:solidFill>
                  <a:srgbClr val="1E3A8A"/>
                </a:solidFill>
                <a:latin typeface="Times New Roman" pitchFamily="34" charset="0"/>
                <a:ea typeface="Times New Roman" pitchFamily="34" charset="-122"/>
                <a:cs typeface="Times New Roman" pitchFamily="34" charset="-120"/>
              </a:rPr>
              <a:t>Thu thập từ nhiều nguồn mỗi ngày</a:t>
            </a:r>
            <a:endParaRPr lang="vi-VN" sz="1200" dirty="0"/>
          </a:p>
        </p:txBody>
      </p:sp>
      <p:sp>
        <p:nvSpPr>
          <p:cNvPr id="14" name="editable-text-012"/>
          <p:cNvSpPr/>
          <p:nvPr/>
        </p:nvSpPr>
        <p:spPr>
          <a:xfrm>
            <a:off x="6035040" y="1452880"/>
            <a:ext cx="406400" cy="406400"/>
          </a:xfrm>
          <a:prstGeom prst="rect">
            <a:avLst/>
          </a:prstGeom>
          <a:noFill/>
          <a:ln/>
        </p:spPr>
        <p:txBody>
          <a:bodyPr wrap="none" lIns="0" tIns="0" rIns="0" bIns="0" rtlCol="0" anchor="t"/>
          <a:lstStyle/>
          <a:p>
            <a:pPr algn="ctr"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2</a:t>
            </a:r>
            <a:endParaRPr lang="vi-VN" sz="1800" dirty="0"/>
          </a:p>
        </p:txBody>
      </p:sp>
      <p:sp>
        <p:nvSpPr>
          <p:cNvPr id="15" name="editable-text-013"/>
          <p:cNvSpPr/>
          <p:nvPr/>
        </p:nvSpPr>
        <p:spPr>
          <a:xfrm>
            <a:off x="5371624" y="1940560"/>
            <a:ext cx="1733074" cy="406400"/>
          </a:xfrm>
          <a:prstGeom prst="rect">
            <a:avLst/>
          </a:prstGeom>
          <a:noFill/>
          <a:ln/>
        </p:spPr>
        <p:txBody>
          <a:bodyPr wrap="none" lIns="0" tIns="0" rIns="0" bIns="0" rtlCol="0" anchor="t"/>
          <a:lstStyle/>
          <a:p>
            <a:pPr algn="ctr"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Dataset Tuần</a:t>
            </a:r>
            <a:endParaRPr lang="vi-VN" sz="1800" dirty="0"/>
          </a:p>
        </p:txBody>
      </p:sp>
      <p:sp>
        <p:nvSpPr>
          <p:cNvPr id="16" name="editable-text-014"/>
          <p:cNvSpPr/>
          <p:nvPr/>
        </p:nvSpPr>
        <p:spPr>
          <a:xfrm>
            <a:off x="5741352" y="2306320"/>
            <a:ext cx="993616" cy="314960"/>
          </a:xfrm>
          <a:prstGeom prst="rect">
            <a:avLst/>
          </a:prstGeom>
          <a:noFill/>
          <a:ln/>
        </p:spPr>
        <p:txBody>
          <a:bodyPr wrap="none" lIns="0" tIns="0" rIns="0" bIns="0" rtlCol="0" anchor="t"/>
          <a:lstStyle/>
          <a:p>
            <a:pPr algn="ctr" indent="0" marL="0">
              <a:buNone/>
            </a:pPr>
            <a:r>
              <a:rPr lang="vi-VN" altLang="en-US" sz="1200" b="1" dirty="0">
                <a:solidFill>
                  <a:srgbClr val="000000"/>
                </a:solidFill>
                <a:latin typeface="Times New Roman" pitchFamily="34" charset="0"/>
                <a:ea typeface="Times New Roman" pitchFamily="34" charset="-122"/>
                <a:cs typeface="Times New Roman" pitchFamily="34" charset="-120"/>
              </a:rPr>
              <a:t>2520 dòng</a:t>
            </a:r>
            <a:endParaRPr lang="vi-VN" sz="1200" dirty="0"/>
          </a:p>
        </p:txBody>
      </p:sp>
      <p:sp>
        <p:nvSpPr>
          <p:cNvPr id="17" name="editable-text-015"/>
          <p:cNvSpPr/>
          <p:nvPr/>
        </p:nvSpPr>
        <p:spPr>
          <a:xfrm>
            <a:off x="6652419" y="3543935"/>
            <a:ext cx="837882" cy="294640"/>
          </a:xfrm>
          <a:prstGeom prst="rect">
            <a:avLst/>
          </a:prstGeom>
          <a:noFill/>
          <a:ln/>
        </p:spPr>
        <p:txBody>
          <a:bodyPr wrap="none" lIns="0" tIns="0" rIns="0" bIns="0" rtlCol="0" anchor="t"/>
          <a:lstStyle/>
          <a:p>
            <a:pPr algn="ctr" indent="0" marL="0">
              <a:buNone/>
            </a:pPr>
            <a:r>
              <a:rPr lang="vi-VN" altLang="en-US" sz="1050" dirty="0">
                <a:solidFill>
                  <a:srgbClr val="374151"/>
                </a:solidFill>
                <a:latin typeface="Times New Roman" pitchFamily="34" charset="0"/>
                <a:ea typeface="Times New Roman" pitchFamily="34" charset="-122"/>
                <a:cs typeface="Times New Roman" pitchFamily="34" charset="-120"/>
              </a:rPr>
              <a:t>Tổng hợp</a:t>
            </a:r>
            <a:endParaRPr lang="vi-VN" sz="1050" dirty="0"/>
          </a:p>
        </p:txBody>
      </p:sp>
      <p:sp>
        <p:nvSpPr>
          <p:cNvPr id="18" name="editable-text-016"/>
          <p:cNvSpPr/>
          <p:nvPr/>
        </p:nvSpPr>
        <p:spPr>
          <a:xfrm>
            <a:off x="6666389" y="3747135"/>
            <a:ext cx="809942" cy="294640"/>
          </a:xfrm>
          <a:prstGeom prst="rect">
            <a:avLst/>
          </a:prstGeom>
          <a:noFill/>
          <a:ln/>
        </p:spPr>
        <p:txBody>
          <a:bodyPr wrap="none" lIns="0" tIns="0" rIns="0" bIns="0" rtlCol="0" anchor="t"/>
          <a:lstStyle/>
          <a:p>
            <a:pPr algn="ctr" indent="0" marL="0">
              <a:buNone/>
            </a:pPr>
            <a:r>
              <a:rPr lang="vi-VN" altLang="en-US" sz="1050" dirty="0">
                <a:solidFill>
                  <a:srgbClr val="374151"/>
                </a:solidFill>
                <a:latin typeface="Times New Roman" pitchFamily="34" charset="0"/>
                <a:ea typeface="Times New Roman" pitchFamily="34" charset="-122"/>
                <a:cs typeface="Times New Roman" pitchFamily="34" charset="-120"/>
              </a:rPr>
              <a:t>theo tuần</a:t>
            </a:r>
            <a:endParaRPr lang="vi-VN" sz="1050" dirty="0"/>
          </a:p>
        </p:txBody>
      </p:sp>
      <p:sp>
        <p:nvSpPr>
          <p:cNvPr id="19" name="editable-text-017"/>
          <p:cNvSpPr/>
          <p:nvPr/>
        </p:nvSpPr>
        <p:spPr>
          <a:xfrm>
            <a:off x="5100320" y="4273550"/>
            <a:ext cx="2355691" cy="558800"/>
          </a:xfrm>
          <a:prstGeom prst="rect">
            <a:avLst/>
          </a:prstGeom>
          <a:noFill/>
          <a:ln/>
        </p:spPr>
        <p:txBody>
          <a:bodyPr wrap="none" lIns="0" tIns="0" rIns="0" bIns="0" rtlCol="0" anchor="t"/>
          <a:lstStyle/>
          <a:p>
            <a:pPr algn="l" indent="0" marL="0">
              <a:buNone/>
            </a:pPr>
            <a:r>
              <a:rPr lang="vi-VN" altLang="en-US" sz="1200" b="1" dirty="0">
                <a:solidFill>
                  <a:srgbClr val="1E3A8A"/>
                </a:solidFill>
                <a:latin typeface="Times New Roman" pitchFamily="34" charset="0"/>
                <a:ea typeface="Times New Roman" pitchFamily="34" charset="-122"/>
                <a:cs typeface="Times New Roman" pitchFamily="34" charset="-120"/>
              </a:rPr>
              <a:t>Làm sạch • Chuẩn hóa • Tổng hợp</a:t>
            </a:r>
            <a:endParaRPr lang="vi-VN" sz="1200" dirty="0"/>
          </a:p>
        </p:txBody>
      </p:sp>
      <p:sp>
        <p:nvSpPr>
          <p:cNvPr id="20" name="editable-text-018"/>
          <p:cNvSpPr/>
          <p:nvPr/>
        </p:nvSpPr>
        <p:spPr>
          <a:xfrm>
            <a:off x="9936480" y="1452880"/>
            <a:ext cx="406400" cy="406400"/>
          </a:xfrm>
          <a:prstGeom prst="rect">
            <a:avLst/>
          </a:prstGeom>
          <a:noFill/>
          <a:ln/>
        </p:spPr>
        <p:txBody>
          <a:bodyPr wrap="none" lIns="0" tIns="0" rIns="0" bIns="0" rtlCol="0" anchor="t"/>
          <a:lstStyle/>
          <a:p>
            <a:pPr algn="ctr"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3</a:t>
            </a:r>
            <a:endParaRPr lang="vi-VN" sz="1800" dirty="0"/>
          </a:p>
        </p:txBody>
      </p:sp>
      <p:sp>
        <p:nvSpPr>
          <p:cNvPr id="21" name="editable-text-019"/>
          <p:cNvSpPr/>
          <p:nvPr/>
        </p:nvSpPr>
        <p:spPr>
          <a:xfrm>
            <a:off x="9197816" y="1940560"/>
            <a:ext cx="1883569" cy="406400"/>
          </a:xfrm>
          <a:prstGeom prst="rect">
            <a:avLst/>
          </a:prstGeom>
          <a:noFill/>
          <a:ln/>
        </p:spPr>
        <p:txBody>
          <a:bodyPr wrap="none" lIns="0" tIns="0" rIns="0" bIns="0" rtlCol="0" anchor="t"/>
          <a:lstStyle/>
          <a:p>
            <a:pPr algn="ctr"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Dataset Tháng</a:t>
            </a:r>
            <a:endParaRPr lang="vi-VN" sz="1800" dirty="0"/>
          </a:p>
        </p:txBody>
      </p:sp>
      <p:sp>
        <p:nvSpPr>
          <p:cNvPr id="22" name="editable-text-020"/>
          <p:cNvSpPr/>
          <p:nvPr/>
        </p:nvSpPr>
        <p:spPr>
          <a:xfrm>
            <a:off x="9325292" y="2306320"/>
            <a:ext cx="1628616" cy="314960"/>
          </a:xfrm>
          <a:prstGeom prst="rect">
            <a:avLst/>
          </a:prstGeom>
          <a:noFill/>
          <a:ln/>
        </p:spPr>
        <p:txBody>
          <a:bodyPr wrap="none" lIns="0" tIns="0" rIns="0" bIns="0" rtlCol="0" anchor="t"/>
          <a:lstStyle/>
          <a:p>
            <a:pPr algn="ctr" indent="0" marL="0">
              <a:buNone/>
            </a:pPr>
            <a:r>
              <a:rPr lang="vi-VN" altLang="en-US" sz="1200" b="1" dirty="0">
                <a:solidFill>
                  <a:srgbClr val="000000"/>
                </a:solidFill>
                <a:latin typeface="Times New Roman" pitchFamily="34" charset="0"/>
                <a:ea typeface="Times New Roman" pitchFamily="34" charset="-122"/>
                <a:cs typeface="Times New Roman" pitchFamily="34" charset="-120"/>
              </a:rPr>
              <a:t>576 dòng • Baseline</a:t>
            </a:r>
            <a:endParaRPr lang="vi-VN" sz="1200" dirty="0"/>
          </a:p>
        </p:txBody>
      </p:sp>
      <p:sp>
        <p:nvSpPr>
          <p:cNvPr id="23" name="editable-text-021"/>
          <p:cNvSpPr/>
          <p:nvPr/>
        </p:nvSpPr>
        <p:spPr>
          <a:xfrm>
            <a:off x="10639583" y="3040380"/>
            <a:ext cx="385127" cy="243840"/>
          </a:xfrm>
          <a:prstGeom prst="rect">
            <a:avLst/>
          </a:prstGeom>
          <a:noFill/>
          <a:ln/>
        </p:spPr>
        <p:txBody>
          <a:bodyPr wrap="none" lIns="0" tIns="0" rIns="0" bIns="0" rtlCol="0" anchor="t"/>
          <a:lstStyle/>
          <a:p>
            <a:pPr algn="ctr" indent="0" marL="0">
              <a:buNone/>
            </a:pPr>
            <a:r>
              <a:rPr lang="vi-VN" altLang="en-US" sz="675" b="1" dirty="0">
                <a:solidFill>
                  <a:srgbClr val="1E40AF"/>
                </a:solidFill>
                <a:latin typeface="ui-monospace" pitchFamily="34" charset="0"/>
                <a:ea typeface="ui-monospace" pitchFamily="34" charset="-122"/>
                <a:cs typeface="ui-monospace" pitchFamily="34" charset="-120"/>
              </a:rPr>
              <a:t>AI</a:t>
            </a:r>
            <a:endParaRPr lang="vi-VN" sz="675" dirty="0"/>
          </a:p>
        </p:txBody>
      </p:sp>
      <p:sp>
        <p:nvSpPr>
          <p:cNvPr id="24" name="editable-text-022"/>
          <p:cNvSpPr/>
          <p:nvPr/>
        </p:nvSpPr>
        <p:spPr>
          <a:xfrm>
            <a:off x="10234612" y="3515360"/>
            <a:ext cx="1195070" cy="650240"/>
          </a:xfrm>
          <a:prstGeom prst="rect">
            <a:avLst/>
          </a:prstGeom>
          <a:noFill/>
          <a:ln/>
        </p:spPr>
        <p:txBody>
          <a:bodyPr wrap="square" lIns="0" tIns="0" rIns="0" bIns="0" rtlCol="0" anchor="t"/>
          <a:lstStyle/>
          <a:p>
            <a:pPr algn="ctr" indent="0" marL="0">
              <a:buNone/>
            </a:pPr>
            <a:r>
              <a:rPr lang="vi-VN" altLang="en-US" sz="1050" dirty="0">
                <a:solidFill>
                  <a:srgbClr val="374151"/>
                </a:solidFill>
                <a:latin typeface="Times New Roman" pitchFamily="34" charset="0"/>
                <a:ea typeface="Times New Roman" pitchFamily="34" charset="-122"/>
                <a:cs typeface="Times New Roman" pitchFamily="34" charset="-120"/>
              </a:rPr>
              <a:t>Dữ liệu đầu vào cho mô hình baseline</a:t>
            </a:r>
            <a:endParaRPr lang="vi-VN" sz="1050" dirty="0"/>
          </a:p>
        </p:txBody>
      </p:sp>
      <p:sp>
        <p:nvSpPr>
          <p:cNvPr id="25" name="editable-text-023"/>
          <p:cNvSpPr/>
          <p:nvPr/>
        </p:nvSpPr>
        <p:spPr>
          <a:xfrm>
            <a:off x="9001760" y="4363720"/>
            <a:ext cx="2041842" cy="558800"/>
          </a:xfrm>
          <a:prstGeom prst="rect">
            <a:avLst/>
          </a:prstGeom>
          <a:noFill/>
          <a:ln/>
        </p:spPr>
        <p:txBody>
          <a:bodyPr wrap="none" lIns="0" tIns="0" rIns="0" bIns="0" rtlCol="0" anchor="t"/>
          <a:lstStyle/>
          <a:p>
            <a:pPr algn="l" indent="0" marL="0">
              <a:buNone/>
            </a:pPr>
            <a:r>
              <a:rPr lang="vi-VN" altLang="en-US" sz="1200" b="1" dirty="0">
                <a:solidFill>
                  <a:srgbClr val="1E3A8A"/>
                </a:solidFill>
                <a:latin typeface="Times New Roman" pitchFamily="34" charset="0"/>
                <a:ea typeface="Times New Roman" pitchFamily="34" charset="-122"/>
                <a:cs typeface="Times New Roman" pitchFamily="34" charset="-120"/>
              </a:rPr>
              <a:t>Chuẩn bị cho mô hình AI (baseline)</a:t>
            </a:r>
            <a:endParaRPr lang="vi-VN" sz="1200" dirty="0"/>
          </a:p>
        </p:txBody>
      </p:sp>
      <p:sp>
        <p:nvSpPr>
          <p:cNvPr id="26" name="editable-text-024"/>
          <p:cNvSpPr/>
          <p:nvPr/>
        </p:nvSpPr>
        <p:spPr>
          <a:xfrm>
            <a:off x="1391920" y="5452110"/>
            <a:ext cx="1204277"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Giảm nhiễu</a:t>
            </a:r>
            <a:endParaRPr lang="vi-VN" sz="1350" dirty="0"/>
          </a:p>
        </p:txBody>
      </p:sp>
      <p:sp>
        <p:nvSpPr>
          <p:cNvPr id="27" name="editable-text-025"/>
          <p:cNvSpPr/>
          <p:nvPr/>
        </p:nvSpPr>
        <p:spPr>
          <a:xfrm>
            <a:off x="1391920" y="5726430"/>
            <a:ext cx="2252980" cy="509905"/>
          </a:xfrm>
          <a:prstGeom prst="rect">
            <a:avLst/>
          </a:prstGeom>
          <a:noFill/>
          <a:ln/>
        </p:spPr>
        <p:txBody>
          <a:bodyPr wrap="none" lIns="0" tIns="0" rIns="0" bIns="0" rtlCol="0" anchor="t"/>
          <a:lstStyle/>
          <a:p>
            <a:pPr algn="l" indent="0" marL="0">
              <a:buNone/>
            </a:pPr>
            <a:r>
              <a:rPr lang="vi-VN" altLang="en-US" sz="1200" dirty="0">
                <a:solidFill>
                  <a:srgbClr val="374151"/>
                </a:solidFill>
                <a:latin typeface="Times New Roman" pitchFamily="34" charset="0"/>
                <a:ea typeface="Times New Roman" pitchFamily="34" charset="-122"/>
                <a:cs typeface="Times New Roman" pitchFamily="34" charset="-120"/>
              </a:rPr>
              <a:t>Bỏ qua biến động giá ảo trong ngày/tuần.</a:t>
            </a:r>
            <a:endParaRPr lang="vi-VN" sz="1200" dirty="0"/>
          </a:p>
        </p:txBody>
      </p:sp>
      <p:sp>
        <p:nvSpPr>
          <p:cNvPr id="28" name="editable-text-026"/>
          <p:cNvSpPr/>
          <p:nvPr/>
        </p:nvSpPr>
        <p:spPr>
          <a:xfrm>
            <a:off x="5130800" y="5452110"/>
            <a:ext cx="1331595"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Tính đồng bộ</a:t>
            </a:r>
            <a:endParaRPr lang="vi-VN" sz="1350" dirty="0"/>
          </a:p>
        </p:txBody>
      </p:sp>
      <p:sp>
        <p:nvSpPr>
          <p:cNvPr id="29" name="editable-text-027"/>
          <p:cNvSpPr/>
          <p:nvPr/>
        </p:nvSpPr>
        <p:spPr>
          <a:xfrm>
            <a:off x="5130800" y="5726430"/>
            <a:ext cx="2709862" cy="509905"/>
          </a:xfrm>
          <a:prstGeom prst="rect">
            <a:avLst/>
          </a:prstGeom>
          <a:noFill/>
          <a:ln/>
        </p:spPr>
        <p:txBody>
          <a:bodyPr wrap="square" lIns="0" tIns="0" rIns="0" bIns="0" rtlCol="0" anchor="t"/>
          <a:lstStyle/>
          <a:p>
            <a:pPr algn="l" indent="0" marL="0">
              <a:buNone/>
            </a:pPr>
            <a:r>
              <a:rPr lang="vi-VN" altLang="en-US" sz="1200" dirty="0">
                <a:solidFill>
                  <a:srgbClr val="374151"/>
                </a:solidFill>
                <a:latin typeface="Times New Roman" pitchFamily="34" charset="0"/>
                <a:ea typeface="Times New Roman" pitchFamily="34" charset="-122"/>
                <a:cs typeface="Times New Roman" pitchFamily="34" charset="-120"/>
              </a:rPr>
              <a:t>Chu kỳ sinh trưởng và thời tiết tương thích theo tháng.</a:t>
            </a:r>
            <a:endParaRPr lang="vi-VN" sz="1200" dirty="0"/>
          </a:p>
        </p:txBody>
      </p:sp>
      <p:sp>
        <p:nvSpPr>
          <p:cNvPr id="30" name="editable-text-028"/>
          <p:cNvSpPr/>
          <p:nvPr/>
        </p:nvSpPr>
        <p:spPr>
          <a:xfrm>
            <a:off x="8869680" y="5452110"/>
            <a:ext cx="1534636"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Nguyên lý KISS</a:t>
            </a:r>
            <a:endParaRPr lang="vi-VN" sz="1350" dirty="0"/>
          </a:p>
        </p:txBody>
      </p:sp>
      <p:sp>
        <p:nvSpPr>
          <p:cNvPr id="31" name="editable-text-029"/>
          <p:cNvSpPr/>
          <p:nvPr/>
        </p:nvSpPr>
        <p:spPr>
          <a:xfrm>
            <a:off x="8869680" y="5726430"/>
            <a:ext cx="2763361" cy="509905"/>
          </a:xfrm>
          <a:prstGeom prst="rect">
            <a:avLst/>
          </a:prstGeom>
          <a:noFill/>
          <a:ln/>
        </p:spPr>
        <p:txBody>
          <a:bodyPr wrap="square" lIns="0" tIns="0" rIns="0" bIns="0" rtlCol="0" anchor="t"/>
          <a:lstStyle/>
          <a:p>
            <a:pPr algn="l" indent="0" marL="0">
              <a:buNone/>
            </a:pPr>
            <a:r>
              <a:rPr lang="vi-VN" altLang="en-US" sz="1200" dirty="0">
                <a:solidFill>
                  <a:srgbClr val="374151"/>
                </a:solidFill>
                <a:latin typeface="Times New Roman" pitchFamily="34" charset="0"/>
                <a:ea typeface="Times New Roman" pitchFamily="34" charset="-122"/>
                <a:cs typeface="Times New Roman" pitchFamily="34" charset="-120"/>
              </a:rPr>
              <a:t>Dữ liệu nhỏ gọn, nhẹ nhàng, tối ưu tài nguyên.</a:t>
            </a:r>
            <a:endParaRPr lang="vi-VN" sz="1200" dirty="0"/>
          </a:p>
        </p:txBody>
      </p:sp>
      <p:sp>
        <p:nvSpPr>
          <p:cNvPr id="32" name="editable-text-030"/>
          <p:cNvSpPr/>
          <p:nvPr/>
        </p:nvSpPr>
        <p:spPr>
          <a:xfrm>
            <a:off x="11450161" y="6441440"/>
            <a:ext cx="37592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8</a:t>
            </a:r>
            <a:endParaRPr lang="vi-VN" sz="1350" dirty="0"/>
          </a:p>
        </p:txBody>
      </p:sp>
      <p:sp>
        <p:nvSpPr>
          <p:cNvPr id="33" name="editable-text-031"/>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34" name="editable-text-032"/>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09-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325120" y="31496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KIẾN TRÚC 4 TẦNG</a:t>
            </a:r>
            <a:endParaRPr lang="vi-VN" sz="2700" dirty="0"/>
          </a:p>
        </p:txBody>
      </p:sp>
      <p:sp>
        <p:nvSpPr>
          <p:cNvPr id="4" name="editable-text-002"/>
          <p:cNvSpPr/>
          <p:nvPr/>
        </p:nvSpPr>
        <p:spPr>
          <a:xfrm>
            <a:off x="8689975" y="33528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10129837" y="56896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732631" y="2219960"/>
            <a:ext cx="932497" cy="459740"/>
          </a:xfrm>
          <a:prstGeom prst="rect">
            <a:avLst/>
          </a:prstGeom>
          <a:noFill/>
          <a:ln/>
        </p:spPr>
        <p:txBody>
          <a:bodyPr wrap="none" lIns="0" tIns="0" rIns="0" bIns="0" rtlCol="0" anchor="t"/>
          <a:lstStyle/>
          <a:p>
            <a:pPr algn="ctr" indent="0" marL="0">
              <a:buNone/>
            </a:pPr>
            <a:r>
              <a:rPr lang="vi-VN" altLang="en-US" sz="975" b="1" dirty="0">
                <a:solidFill>
                  <a:srgbClr val="1E3A8A"/>
                </a:solidFill>
                <a:latin typeface="Times New Roman" pitchFamily="34" charset="0"/>
                <a:ea typeface="Times New Roman" pitchFamily="34" charset="-122"/>
                <a:cs typeface="Times New Roman" pitchFamily="34" charset="-120"/>
              </a:rPr>
              <a:t>Đến người dùng</a:t>
            </a:r>
            <a:endParaRPr lang="vi-VN" sz="975" dirty="0"/>
          </a:p>
        </p:txBody>
      </p:sp>
      <p:sp>
        <p:nvSpPr>
          <p:cNvPr id="7" name="editable-text-005"/>
          <p:cNvSpPr/>
          <p:nvPr/>
        </p:nvSpPr>
        <p:spPr>
          <a:xfrm>
            <a:off x="1818640" y="1889760"/>
            <a:ext cx="406400" cy="406400"/>
          </a:xfrm>
          <a:prstGeom prst="rect">
            <a:avLst/>
          </a:prstGeom>
          <a:noFill/>
          <a:ln/>
        </p:spPr>
        <p:txBody>
          <a:bodyPr wrap="none" lIns="0" tIns="0" rIns="0" bIns="0" rtlCol="0" anchor="t"/>
          <a:lstStyle/>
          <a:p>
            <a:pPr algn="l"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4</a:t>
            </a:r>
            <a:endParaRPr lang="vi-VN" sz="1800" dirty="0"/>
          </a:p>
        </p:txBody>
      </p:sp>
      <p:sp>
        <p:nvSpPr>
          <p:cNvPr id="8" name="editable-text-006"/>
          <p:cNvSpPr/>
          <p:nvPr/>
        </p:nvSpPr>
        <p:spPr>
          <a:xfrm>
            <a:off x="2448560" y="1776730"/>
            <a:ext cx="2815431" cy="396240"/>
          </a:xfrm>
          <a:prstGeom prst="rect">
            <a:avLst/>
          </a:prstGeom>
          <a:noFill/>
          <a:ln/>
        </p:spPr>
        <p:txBody>
          <a:bodyPr wrap="none" lIns="0" tIns="0" rIns="0" bIns="0" rtlCol="0" anchor="t"/>
          <a:lstStyle/>
          <a:p>
            <a:pPr algn="l" indent="0" marL="0">
              <a:buNone/>
            </a:pPr>
            <a:r>
              <a:rPr lang="vi-VN" altLang="en-US" sz="1650" b="1" dirty="0">
                <a:solidFill>
                  <a:srgbClr val="FFFFFF"/>
                </a:solidFill>
                <a:latin typeface="Times New Roman" pitchFamily="34" charset="0"/>
                <a:ea typeface="Times New Roman" pitchFamily="34" charset="-122"/>
                <a:cs typeface="Times New Roman" pitchFamily="34" charset="-120"/>
              </a:rPr>
              <a:t>Tầng 4 • Presentation Layer</a:t>
            </a:r>
            <a:endParaRPr lang="vi-VN" sz="1650" dirty="0"/>
          </a:p>
        </p:txBody>
      </p:sp>
      <p:sp>
        <p:nvSpPr>
          <p:cNvPr id="9" name="editable-text-007"/>
          <p:cNvSpPr/>
          <p:nvPr/>
        </p:nvSpPr>
        <p:spPr>
          <a:xfrm>
            <a:off x="2448560" y="2132330"/>
            <a:ext cx="3657600" cy="325120"/>
          </a:xfrm>
          <a:prstGeom prst="rect">
            <a:avLst/>
          </a:prstGeom>
          <a:noFill/>
          <a:ln/>
        </p:spPr>
        <p:txBody>
          <a:bodyPr wrap="none" lIns="0" tIns="0" rIns="0" bIns="0" rtlCol="0" anchor="t"/>
          <a:lstStyle/>
          <a:p>
            <a:pPr algn="l" indent="0" marL="0">
              <a:buNone/>
            </a:pPr>
            <a:r>
              <a:rPr lang="vi-VN" altLang="en-US" sz="1050" dirty="0">
                <a:solidFill>
                  <a:srgbClr val="DBEAFE">
                    <a:alpha val="90000"/>
                  </a:srgbClr>
                </a:solidFill>
                <a:latin typeface="Times New Roman" pitchFamily="34" charset="0"/>
                <a:ea typeface="Times New Roman" pitchFamily="34" charset="-122"/>
                <a:cs typeface="Times New Roman" pitchFamily="34" charset="-120"/>
              </a:rPr>
              <a:t>Mobile UI tối ưu di động • Disclaimer</a:t>
            </a:r>
            <a:endParaRPr lang="vi-VN" sz="1050" dirty="0"/>
          </a:p>
        </p:txBody>
      </p:sp>
      <p:sp>
        <p:nvSpPr>
          <p:cNvPr id="10" name="editable-text-008"/>
          <p:cNvSpPr/>
          <p:nvPr/>
        </p:nvSpPr>
        <p:spPr>
          <a:xfrm>
            <a:off x="5979319" y="2131060"/>
            <a:ext cx="860742"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Giao diện thân thiện</a:t>
            </a:r>
            <a:endParaRPr lang="vi-VN" sz="975" dirty="0"/>
          </a:p>
        </p:txBody>
      </p:sp>
      <p:sp>
        <p:nvSpPr>
          <p:cNvPr id="11" name="editable-text-009"/>
          <p:cNvSpPr/>
          <p:nvPr/>
        </p:nvSpPr>
        <p:spPr>
          <a:xfrm>
            <a:off x="7397591" y="2131060"/>
            <a:ext cx="985679"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Cảnh báo &amp; khuyến nghị</a:t>
            </a:r>
            <a:endParaRPr lang="vi-VN" sz="975" dirty="0"/>
          </a:p>
        </p:txBody>
      </p:sp>
      <p:sp>
        <p:nvSpPr>
          <p:cNvPr id="12" name="editable-text-010"/>
          <p:cNvSpPr/>
          <p:nvPr/>
        </p:nvSpPr>
        <p:spPr>
          <a:xfrm>
            <a:off x="8117840" y="2959100"/>
            <a:ext cx="1143159" cy="294640"/>
          </a:xfrm>
          <a:prstGeom prst="rect">
            <a:avLst/>
          </a:prstGeom>
          <a:noFill/>
          <a:ln/>
        </p:spPr>
        <p:txBody>
          <a:bodyPr wrap="none" lIns="0" tIns="0" rIns="0" bIns="0" rtlCol="0" anchor="t"/>
          <a:lstStyle/>
          <a:p>
            <a:pPr algn="l" indent="0" marL="0">
              <a:buNone/>
            </a:pPr>
            <a:r>
              <a:rPr lang="vi-VN" altLang="en-US" sz="975" b="1" dirty="0">
                <a:solidFill>
                  <a:srgbClr val="1E40AF"/>
                </a:solidFill>
                <a:latin typeface="Times New Roman" pitchFamily="34" charset="0"/>
                <a:ea typeface="Times New Roman" pitchFamily="34" charset="-122"/>
                <a:cs typeface="Times New Roman" pitchFamily="34" charset="-120"/>
              </a:rPr>
              <a:t>DISCLAIMER</a:t>
            </a:r>
            <a:endParaRPr lang="vi-VN" sz="975" dirty="0"/>
          </a:p>
        </p:txBody>
      </p:sp>
      <p:sp>
        <p:nvSpPr>
          <p:cNvPr id="13" name="editable-text-011"/>
          <p:cNvSpPr/>
          <p:nvPr/>
        </p:nvSpPr>
        <p:spPr>
          <a:xfrm>
            <a:off x="7853680" y="3220720"/>
            <a:ext cx="2089467" cy="445770"/>
          </a:xfrm>
          <a:prstGeom prst="rect">
            <a:avLst/>
          </a:prstGeom>
          <a:noFill/>
          <a:ln/>
        </p:spPr>
        <p:txBody>
          <a:bodyPr wrap="square" lIns="0" tIns="0" rIns="0" bIns="0" rtlCol="0" anchor="t"/>
          <a:lstStyle/>
          <a:p>
            <a:pPr algn="l" indent="0" marL="0">
              <a:buNone/>
            </a:pPr>
            <a:r>
              <a:rPr lang="vi-VN" altLang="en-US" sz="825" dirty="0">
                <a:solidFill>
                  <a:srgbClr val="000000"/>
                </a:solidFill>
                <a:latin typeface="Times New Roman" pitchFamily="34" charset="0"/>
                <a:ea typeface="Times New Roman" pitchFamily="34" charset="-122"/>
                <a:cs typeface="Times New Roman" pitchFamily="34" charset="-120"/>
              </a:rPr>
              <a:t>Dự báo chỉ mang tính tham khảo, không thay thế quyết định của người trồng.</a:t>
            </a:r>
            <a:endParaRPr lang="vi-VN" sz="825" dirty="0"/>
          </a:p>
        </p:txBody>
      </p:sp>
      <p:sp>
        <p:nvSpPr>
          <p:cNvPr id="14" name="editable-text-012"/>
          <p:cNvSpPr/>
          <p:nvPr/>
        </p:nvSpPr>
        <p:spPr>
          <a:xfrm>
            <a:off x="829786" y="3517106"/>
            <a:ext cx="738029" cy="459740"/>
          </a:xfrm>
          <a:prstGeom prst="rect">
            <a:avLst/>
          </a:prstGeom>
          <a:noFill/>
          <a:ln/>
        </p:spPr>
        <p:txBody>
          <a:bodyPr wrap="none" lIns="0" tIns="0" rIns="0" bIns="0" rtlCol="0" anchor="t"/>
          <a:lstStyle/>
          <a:p>
            <a:pPr algn="ctr" indent="0" marL="0">
              <a:buNone/>
            </a:pPr>
            <a:r>
              <a:rPr lang="vi-VN" altLang="en-US" sz="975" b="1" dirty="0">
                <a:solidFill>
                  <a:srgbClr val="1E3A8A"/>
                </a:solidFill>
                <a:latin typeface="Times New Roman" pitchFamily="34" charset="0"/>
                <a:ea typeface="Times New Roman" pitchFamily="34" charset="-122"/>
                <a:cs typeface="Times New Roman" pitchFamily="34" charset="-120"/>
              </a:rPr>
              <a:t>Xử lý &amp; trí tuệ</a:t>
            </a:r>
            <a:endParaRPr lang="vi-VN" sz="975" dirty="0"/>
          </a:p>
        </p:txBody>
      </p:sp>
      <p:sp>
        <p:nvSpPr>
          <p:cNvPr id="15" name="editable-text-013"/>
          <p:cNvSpPr/>
          <p:nvPr/>
        </p:nvSpPr>
        <p:spPr>
          <a:xfrm>
            <a:off x="1818640" y="3186906"/>
            <a:ext cx="406400" cy="406400"/>
          </a:xfrm>
          <a:prstGeom prst="rect">
            <a:avLst/>
          </a:prstGeom>
          <a:noFill/>
          <a:ln/>
        </p:spPr>
        <p:txBody>
          <a:bodyPr wrap="none" lIns="0" tIns="0" rIns="0" bIns="0" rtlCol="0" anchor="t"/>
          <a:lstStyle/>
          <a:p>
            <a:pPr algn="l"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3</a:t>
            </a:r>
            <a:endParaRPr lang="vi-VN" sz="1800" dirty="0"/>
          </a:p>
        </p:txBody>
      </p:sp>
      <p:sp>
        <p:nvSpPr>
          <p:cNvPr id="16" name="editable-text-014"/>
          <p:cNvSpPr/>
          <p:nvPr/>
        </p:nvSpPr>
        <p:spPr>
          <a:xfrm>
            <a:off x="2448560" y="3073876"/>
            <a:ext cx="2402681" cy="396240"/>
          </a:xfrm>
          <a:prstGeom prst="rect">
            <a:avLst/>
          </a:prstGeom>
          <a:noFill/>
          <a:ln/>
        </p:spPr>
        <p:txBody>
          <a:bodyPr wrap="none" lIns="0" tIns="0" rIns="0" bIns="0" rtlCol="0" anchor="t"/>
          <a:lstStyle/>
          <a:p>
            <a:pPr algn="l" indent="0" marL="0">
              <a:buNone/>
            </a:pPr>
            <a:r>
              <a:rPr lang="vi-VN" altLang="en-US" sz="1650" b="1" dirty="0">
                <a:solidFill>
                  <a:srgbClr val="FFFFFF"/>
                </a:solidFill>
                <a:latin typeface="Times New Roman" pitchFamily="34" charset="0"/>
                <a:ea typeface="Times New Roman" pitchFamily="34" charset="-122"/>
                <a:cs typeface="Times New Roman" pitchFamily="34" charset="-120"/>
              </a:rPr>
              <a:t>Tầng 3 • AI Core Layer</a:t>
            </a:r>
            <a:endParaRPr lang="vi-VN" sz="1650" dirty="0"/>
          </a:p>
        </p:txBody>
      </p:sp>
      <p:sp>
        <p:nvSpPr>
          <p:cNvPr id="17" name="editable-text-015"/>
          <p:cNvSpPr/>
          <p:nvPr/>
        </p:nvSpPr>
        <p:spPr>
          <a:xfrm>
            <a:off x="2448560" y="3429476"/>
            <a:ext cx="3657600" cy="325120"/>
          </a:xfrm>
          <a:prstGeom prst="rect">
            <a:avLst/>
          </a:prstGeom>
          <a:noFill/>
          <a:ln/>
        </p:spPr>
        <p:txBody>
          <a:bodyPr wrap="none" lIns="0" tIns="0" rIns="0" bIns="0" rtlCol="0" anchor="t"/>
          <a:lstStyle/>
          <a:p>
            <a:pPr algn="l" indent="0" marL="0">
              <a:buNone/>
            </a:pPr>
            <a:r>
              <a:rPr lang="vi-VN" altLang="en-US" sz="1050" dirty="0">
                <a:solidFill>
                  <a:srgbClr val="DBEAFE">
                    <a:alpha val="90000"/>
                  </a:srgbClr>
                </a:solidFill>
                <a:latin typeface="Times New Roman" pitchFamily="34" charset="0"/>
                <a:ea typeface="Times New Roman" pitchFamily="34" charset="-122"/>
                <a:cs typeface="Times New Roman" pitchFamily="34" charset="-120"/>
              </a:rPr>
              <a:t>FastAPI • Random Forest • Pydantic guard</a:t>
            </a:r>
            <a:endParaRPr lang="vi-VN" sz="1050" dirty="0"/>
          </a:p>
        </p:txBody>
      </p:sp>
      <p:sp>
        <p:nvSpPr>
          <p:cNvPr id="18" name="editable-text-016"/>
          <p:cNvSpPr/>
          <p:nvPr/>
        </p:nvSpPr>
        <p:spPr>
          <a:xfrm>
            <a:off x="5850890" y="3428206"/>
            <a:ext cx="1117441"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FastAPI (Backend API)</a:t>
            </a:r>
            <a:endParaRPr lang="vi-VN" sz="975" dirty="0"/>
          </a:p>
        </p:txBody>
      </p:sp>
      <p:sp>
        <p:nvSpPr>
          <p:cNvPr id="19" name="editable-text-017"/>
          <p:cNvSpPr/>
          <p:nvPr/>
        </p:nvSpPr>
        <p:spPr>
          <a:xfrm>
            <a:off x="7311072" y="3428206"/>
            <a:ext cx="1158875"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Random Forest (Model ML)</a:t>
            </a:r>
            <a:endParaRPr lang="vi-VN" sz="975" dirty="0"/>
          </a:p>
        </p:txBody>
      </p:sp>
      <p:sp>
        <p:nvSpPr>
          <p:cNvPr id="20" name="editable-text-018"/>
          <p:cNvSpPr/>
          <p:nvPr/>
        </p:nvSpPr>
        <p:spPr>
          <a:xfrm>
            <a:off x="8876824" y="3428206"/>
            <a:ext cx="989012"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Mô hình cây (Ensemble)</a:t>
            </a:r>
            <a:endParaRPr lang="vi-VN" sz="975" dirty="0"/>
          </a:p>
        </p:txBody>
      </p:sp>
      <p:sp>
        <p:nvSpPr>
          <p:cNvPr id="21" name="editable-text-019"/>
          <p:cNvSpPr/>
          <p:nvPr/>
        </p:nvSpPr>
        <p:spPr>
          <a:xfrm>
            <a:off x="10259060" y="3428206"/>
            <a:ext cx="1186021"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Pydantic guard (Validate Input)</a:t>
            </a:r>
            <a:endParaRPr lang="vi-VN" sz="975" dirty="0"/>
          </a:p>
        </p:txBody>
      </p:sp>
      <p:sp>
        <p:nvSpPr>
          <p:cNvPr id="22" name="editable-text-020"/>
          <p:cNvSpPr/>
          <p:nvPr/>
        </p:nvSpPr>
        <p:spPr>
          <a:xfrm>
            <a:off x="711676" y="4814094"/>
            <a:ext cx="974249" cy="459740"/>
          </a:xfrm>
          <a:prstGeom prst="rect">
            <a:avLst/>
          </a:prstGeom>
          <a:noFill/>
          <a:ln/>
        </p:spPr>
        <p:txBody>
          <a:bodyPr wrap="none" lIns="0" tIns="0" rIns="0" bIns="0" rtlCol="0" anchor="t"/>
          <a:lstStyle/>
          <a:p>
            <a:pPr algn="ctr" indent="0" marL="0">
              <a:buNone/>
            </a:pPr>
            <a:r>
              <a:rPr lang="vi-VN" altLang="en-US" sz="975" b="1" dirty="0">
                <a:solidFill>
                  <a:srgbClr val="1E3A8A"/>
                </a:solidFill>
                <a:latin typeface="Times New Roman" pitchFamily="34" charset="0"/>
                <a:ea typeface="Times New Roman" pitchFamily="34" charset="-122"/>
                <a:cs typeface="Times New Roman" pitchFamily="34" charset="-120"/>
              </a:rPr>
              <a:t>Làm sạch &amp; chuẩn hóa</a:t>
            </a:r>
            <a:endParaRPr lang="vi-VN" sz="975" dirty="0"/>
          </a:p>
        </p:txBody>
      </p:sp>
      <p:sp>
        <p:nvSpPr>
          <p:cNvPr id="23" name="editable-text-021"/>
          <p:cNvSpPr/>
          <p:nvPr/>
        </p:nvSpPr>
        <p:spPr>
          <a:xfrm>
            <a:off x="1818640" y="4483894"/>
            <a:ext cx="406400" cy="406400"/>
          </a:xfrm>
          <a:prstGeom prst="rect">
            <a:avLst/>
          </a:prstGeom>
          <a:noFill/>
          <a:ln/>
        </p:spPr>
        <p:txBody>
          <a:bodyPr wrap="none" lIns="0" tIns="0" rIns="0" bIns="0" rtlCol="0" anchor="t"/>
          <a:lstStyle/>
          <a:p>
            <a:pPr algn="l"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2</a:t>
            </a:r>
            <a:endParaRPr lang="vi-VN" sz="1800" dirty="0"/>
          </a:p>
        </p:txBody>
      </p:sp>
      <p:sp>
        <p:nvSpPr>
          <p:cNvPr id="24" name="editable-text-022"/>
          <p:cNvSpPr/>
          <p:nvPr/>
        </p:nvSpPr>
        <p:spPr>
          <a:xfrm>
            <a:off x="2448560" y="4370864"/>
            <a:ext cx="2463641" cy="396240"/>
          </a:xfrm>
          <a:prstGeom prst="rect">
            <a:avLst/>
          </a:prstGeom>
          <a:noFill/>
          <a:ln/>
        </p:spPr>
        <p:txBody>
          <a:bodyPr wrap="none" lIns="0" tIns="0" rIns="0" bIns="0" rtlCol="0" anchor="t"/>
          <a:lstStyle/>
          <a:p>
            <a:pPr algn="l" indent="0" marL="0">
              <a:buNone/>
            </a:pPr>
            <a:r>
              <a:rPr lang="vi-VN" altLang="en-US" sz="1650" b="1" dirty="0">
                <a:solidFill>
                  <a:srgbClr val="FFFFFF"/>
                </a:solidFill>
                <a:latin typeface="Times New Roman" pitchFamily="34" charset="0"/>
                <a:ea typeface="Times New Roman" pitchFamily="34" charset="-122"/>
                <a:cs typeface="Times New Roman" pitchFamily="34" charset="-120"/>
              </a:rPr>
              <a:t>Tầng 2 • Filtering Layer</a:t>
            </a:r>
            <a:endParaRPr lang="vi-VN" sz="1650" dirty="0"/>
          </a:p>
        </p:txBody>
      </p:sp>
      <p:sp>
        <p:nvSpPr>
          <p:cNvPr id="25" name="editable-text-023"/>
          <p:cNvSpPr/>
          <p:nvPr/>
        </p:nvSpPr>
        <p:spPr>
          <a:xfrm>
            <a:off x="2448560" y="4726464"/>
            <a:ext cx="3657600" cy="325120"/>
          </a:xfrm>
          <a:prstGeom prst="rect">
            <a:avLst/>
          </a:prstGeom>
          <a:noFill/>
          <a:ln/>
        </p:spPr>
        <p:txBody>
          <a:bodyPr wrap="none" lIns="0" tIns="0" rIns="0" bIns="0" rtlCol="0" anchor="t"/>
          <a:lstStyle/>
          <a:p>
            <a:pPr algn="l" indent="0" marL="0">
              <a:buNone/>
            </a:pPr>
            <a:r>
              <a:rPr lang="vi-VN" altLang="en-US" sz="1050" dirty="0">
                <a:solidFill>
                  <a:srgbClr val="DBEAFE">
                    <a:alpha val="90000"/>
                  </a:srgbClr>
                </a:solidFill>
                <a:latin typeface="Times New Roman" pitchFamily="34" charset="0"/>
                <a:ea typeface="Times New Roman" pitchFamily="34" charset="-122"/>
                <a:cs typeface="Times New Roman" pitchFamily="34" charset="-120"/>
              </a:rPr>
              <a:t>Nội suy giá trị thiếu • Khử nhiễu cảm biến lỗi</a:t>
            </a:r>
            <a:endParaRPr lang="vi-VN" sz="1050" dirty="0"/>
          </a:p>
        </p:txBody>
      </p:sp>
      <p:sp>
        <p:nvSpPr>
          <p:cNvPr id="26" name="editable-text-024"/>
          <p:cNvSpPr/>
          <p:nvPr/>
        </p:nvSpPr>
        <p:spPr>
          <a:xfrm>
            <a:off x="5825331" y="4725194"/>
            <a:ext cx="1168717"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Lọc &amp; làm sạch dữ liệu</a:t>
            </a:r>
            <a:endParaRPr lang="vi-VN" sz="975" dirty="0"/>
          </a:p>
        </p:txBody>
      </p:sp>
      <p:sp>
        <p:nvSpPr>
          <p:cNvPr id="27" name="editable-text-025"/>
          <p:cNvSpPr/>
          <p:nvPr/>
        </p:nvSpPr>
        <p:spPr>
          <a:xfrm>
            <a:off x="7446169" y="4725194"/>
            <a:ext cx="888682"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Khử nhiễu cảm biến</a:t>
            </a:r>
            <a:endParaRPr lang="vi-VN" sz="975" dirty="0"/>
          </a:p>
        </p:txBody>
      </p:sp>
      <p:sp>
        <p:nvSpPr>
          <p:cNvPr id="28" name="editable-text-026"/>
          <p:cNvSpPr/>
          <p:nvPr/>
        </p:nvSpPr>
        <p:spPr>
          <a:xfrm>
            <a:off x="8830945" y="4725194"/>
            <a:ext cx="1080770"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Nội suy giá trị thiếu</a:t>
            </a:r>
            <a:endParaRPr lang="vi-VN" sz="975" dirty="0"/>
          </a:p>
        </p:txBody>
      </p:sp>
      <p:sp>
        <p:nvSpPr>
          <p:cNvPr id="29" name="editable-text-027"/>
          <p:cNvSpPr/>
          <p:nvPr/>
        </p:nvSpPr>
        <p:spPr>
          <a:xfrm>
            <a:off x="10136663" y="4725194"/>
            <a:ext cx="1430972"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Kiểm tra chất lượng &amp; hợp lệ</a:t>
            </a:r>
            <a:endParaRPr lang="vi-VN" sz="975" dirty="0"/>
          </a:p>
        </p:txBody>
      </p:sp>
      <p:sp>
        <p:nvSpPr>
          <p:cNvPr id="30" name="editable-text-028"/>
          <p:cNvSpPr/>
          <p:nvPr/>
        </p:nvSpPr>
        <p:spPr>
          <a:xfrm>
            <a:off x="760730" y="6111240"/>
            <a:ext cx="876141" cy="459740"/>
          </a:xfrm>
          <a:prstGeom prst="rect">
            <a:avLst/>
          </a:prstGeom>
          <a:noFill/>
          <a:ln/>
        </p:spPr>
        <p:txBody>
          <a:bodyPr wrap="none" lIns="0" tIns="0" rIns="0" bIns="0" rtlCol="0" anchor="t"/>
          <a:lstStyle/>
          <a:p>
            <a:pPr algn="ctr" indent="0" marL="0">
              <a:buNone/>
            </a:pPr>
            <a:r>
              <a:rPr lang="vi-VN" altLang="en-US" sz="975" b="1" dirty="0">
                <a:solidFill>
                  <a:srgbClr val="1E3A8A"/>
                </a:solidFill>
                <a:latin typeface="Times New Roman" pitchFamily="34" charset="0"/>
                <a:ea typeface="Times New Roman" pitchFamily="34" charset="-122"/>
                <a:cs typeface="Times New Roman" pitchFamily="34" charset="-120"/>
              </a:rPr>
              <a:t>Từ dữ liệu thô</a:t>
            </a:r>
            <a:endParaRPr lang="vi-VN" sz="975" dirty="0"/>
          </a:p>
        </p:txBody>
      </p:sp>
      <p:sp>
        <p:nvSpPr>
          <p:cNvPr id="31" name="editable-text-029"/>
          <p:cNvSpPr/>
          <p:nvPr/>
        </p:nvSpPr>
        <p:spPr>
          <a:xfrm>
            <a:off x="1818640" y="5781040"/>
            <a:ext cx="406400" cy="406400"/>
          </a:xfrm>
          <a:prstGeom prst="rect">
            <a:avLst/>
          </a:prstGeom>
          <a:noFill/>
          <a:ln/>
        </p:spPr>
        <p:txBody>
          <a:bodyPr wrap="none" lIns="0" tIns="0" rIns="0" bIns="0" rtlCol="0" anchor="t"/>
          <a:lstStyle/>
          <a:p>
            <a:pPr algn="l"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1</a:t>
            </a:r>
            <a:endParaRPr lang="vi-VN" sz="1800" dirty="0"/>
          </a:p>
        </p:txBody>
      </p:sp>
      <p:sp>
        <p:nvSpPr>
          <p:cNvPr id="32" name="editable-text-030"/>
          <p:cNvSpPr/>
          <p:nvPr/>
        </p:nvSpPr>
        <p:spPr>
          <a:xfrm>
            <a:off x="2448560" y="5570220"/>
            <a:ext cx="2119312" cy="396240"/>
          </a:xfrm>
          <a:prstGeom prst="rect">
            <a:avLst/>
          </a:prstGeom>
          <a:noFill/>
          <a:ln/>
        </p:spPr>
        <p:txBody>
          <a:bodyPr wrap="none" lIns="0" tIns="0" rIns="0" bIns="0" rtlCol="0" anchor="t"/>
          <a:lstStyle/>
          <a:p>
            <a:pPr algn="l" indent="0" marL="0">
              <a:buNone/>
            </a:pPr>
            <a:r>
              <a:rPr lang="vi-VN" altLang="en-US" sz="1650" b="1" dirty="0">
                <a:solidFill>
                  <a:srgbClr val="FFFFFF"/>
                </a:solidFill>
                <a:latin typeface="Times New Roman" pitchFamily="34" charset="0"/>
                <a:ea typeface="Times New Roman" pitchFamily="34" charset="-122"/>
                <a:cs typeface="Times New Roman" pitchFamily="34" charset="-120"/>
              </a:rPr>
              <a:t>Tầng 1 • Data Layer</a:t>
            </a:r>
            <a:endParaRPr lang="vi-VN" sz="1650" dirty="0"/>
          </a:p>
        </p:txBody>
      </p:sp>
      <p:sp>
        <p:nvSpPr>
          <p:cNvPr id="33" name="editable-text-031"/>
          <p:cNvSpPr/>
          <p:nvPr/>
        </p:nvSpPr>
        <p:spPr>
          <a:xfrm>
            <a:off x="2448560" y="5925820"/>
            <a:ext cx="3657600" cy="490220"/>
          </a:xfrm>
          <a:prstGeom prst="rect">
            <a:avLst/>
          </a:prstGeom>
          <a:noFill/>
          <a:ln/>
        </p:spPr>
        <p:txBody>
          <a:bodyPr wrap="none" lIns="0" tIns="0" rIns="0" bIns="0" rtlCol="0" anchor="t"/>
          <a:lstStyle/>
          <a:p>
            <a:pPr algn="l" indent="0" marL="0">
              <a:buNone/>
            </a:pPr>
            <a:r>
              <a:rPr lang="vi-VN" altLang="en-US" sz="1050" dirty="0">
                <a:solidFill>
                  <a:srgbClr val="DBEAFE">
                    <a:alpha val="90000"/>
                  </a:srgbClr>
                </a:solidFill>
                <a:latin typeface="Times New Roman" pitchFamily="34" charset="0"/>
                <a:ea typeface="Times New Roman" pitchFamily="34" charset="-122"/>
                <a:cs typeface="Times New Roman" pitchFamily="34" charset="-120"/>
              </a:rPr>
              <a:t>Crawler thu thập tự động giá cà phê &amp; dữ liệu thời tiết</a:t>
            </a:r>
            <a:endParaRPr lang="vi-VN" sz="1050" dirty="0"/>
          </a:p>
        </p:txBody>
      </p:sp>
      <p:sp>
        <p:nvSpPr>
          <p:cNvPr id="34" name="editable-text-032"/>
          <p:cNvSpPr/>
          <p:nvPr/>
        </p:nvSpPr>
        <p:spPr>
          <a:xfrm>
            <a:off x="5867400" y="6022340"/>
            <a:ext cx="1084580"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Giá cà phê thô hàng ngày</a:t>
            </a:r>
            <a:endParaRPr lang="vi-VN" sz="975" dirty="0"/>
          </a:p>
        </p:txBody>
      </p:sp>
      <p:sp>
        <p:nvSpPr>
          <p:cNvPr id="35" name="editable-text-033"/>
          <p:cNvSpPr/>
          <p:nvPr/>
        </p:nvSpPr>
        <p:spPr>
          <a:xfrm>
            <a:off x="7303294" y="6022340"/>
            <a:ext cx="1174274"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Dữ liệu thời tiết hàng ngày</a:t>
            </a:r>
            <a:endParaRPr lang="vi-VN" sz="975" dirty="0"/>
          </a:p>
        </p:txBody>
      </p:sp>
      <p:sp>
        <p:nvSpPr>
          <p:cNvPr id="36" name="editable-text-034"/>
          <p:cNvSpPr/>
          <p:nvPr/>
        </p:nvSpPr>
        <p:spPr>
          <a:xfrm>
            <a:off x="8887777" y="6022340"/>
            <a:ext cx="967105"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Đầu vào thô (raw input)</a:t>
            </a:r>
            <a:endParaRPr lang="vi-VN" sz="975" dirty="0"/>
          </a:p>
        </p:txBody>
      </p:sp>
      <p:sp>
        <p:nvSpPr>
          <p:cNvPr id="37" name="editable-text-035"/>
          <p:cNvSpPr/>
          <p:nvPr/>
        </p:nvSpPr>
        <p:spPr>
          <a:xfrm>
            <a:off x="10219372" y="6022340"/>
            <a:ext cx="1265396" cy="459740"/>
          </a:xfrm>
          <a:prstGeom prst="rect">
            <a:avLst/>
          </a:prstGeom>
          <a:noFill/>
          <a:ln/>
        </p:spPr>
        <p:txBody>
          <a:bodyPr wrap="none" lIns="0" tIns="0" rIns="0" bIns="0" rtlCol="0" anchor="t"/>
          <a:lstStyle/>
          <a:p>
            <a:pPr algn="ctr" indent="0" marL="0">
              <a:buNone/>
            </a:pPr>
            <a:r>
              <a:rPr lang="vi-VN" altLang="en-US" sz="975" b="1" dirty="0">
                <a:solidFill>
                  <a:srgbClr val="374151"/>
                </a:solidFill>
                <a:latin typeface="Times New Roman" pitchFamily="34" charset="0"/>
                <a:ea typeface="Times New Roman" pitchFamily="34" charset="-122"/>
                <a:cs typeface="Times New Roman" pitchFamily="34" charset="-120"/>
              </a:rPr>
              <a:t>Crawler thu thập tự động</a:t>
            </a:r>
            <a:endParaRPr lang="vi-VN" sz="975" dirty="0"/>
          </a:p>
        </p:txBody>
      </p:sp>
      <p:sp>
        <p:nvSpPr>
          <p:cNvPr id="38" name="editable-text-036"/>
          <p:cNvSpPr/>
          <p:nvPr/>
        </p:nvSpPr>
        <p:spPr>
          <a:xfrm>
            <a:off x="9184640" y="1473200"/>
            <a:ext cx="489426" cy="264160"/>
          </a:xfrm>
          <a:prstGeom prst="rect">
            <a:avLst/>
          </a:prstGeom>
          <a:noFill/>
          <a:ln/>
        </p:spPr>
        <p:txBody>
          <a:bodyPr wrap="none" lIns="0" tIns="0" rIns="0" bIns="0" rtlCol="0" anchor="t"/>
          <a:lstStyle/>
          <a:p>
            <a:pPr algn="l" indent="0" marL="0">
              <a:buNone/>
            </a:pPr>
            <a:r>
              <a:rPr lang="vi-VN" altLang="en-US" sz="825" b="1" dirty="0">
                <a:solidFill>
                  <a:srgbClr val="1F2937">
                    <a:alpha val="40000"/>
                  </a:srgbClr>
                </a:solidFill>
                <a:latin typeface="Times New Roman" pitchFamily="34" charset="0"/>
                <a:ea typeface="Times New Roman" pitchFamily="34" charset="-122"/>
                <a:cs typeface="Times New Roman" pitchFamily="34" charset="-120"/>
              </a:rPr>
              <a:t>9:41</a:t>
            </a:r>
            <a:endParaRPr lang="vi-VN" sz="825" dirty="0"/>
          </a:p>
        </p:txBody>
      </p:sp>
      <p:sp>
        <p:nvSpPr>
          <p:cNvPr id="39" name="editable-text-037"/>
          <p:cNvSpPr/>
          <p:nvPr/>
        </p:nvSpPr>
        <p:spPr>
          <a:xfrm>
            <a:off x="9144000" y="1854200"/>
            <a:ext cx="1894522" cy="314960"/>
          </a:xfrm>
          <a:prstGeom prst="rect">
            <a:avLst/>
          </a:prstGeom>
          <a:noFill/>
          <a:ln/>
        </p:spPr>
        <p:txBody>
          <a:bodyPr wrap="none" lIns="0" tIns="0" rIns="0" bIns="0" rtlCol="0" anchor="t"/>
          <a:lstStyle/>
          <a:p>
            <a:pPr algn="l" indent="0" marL="0">
              <a:buNone/>
            </a:pPr>
            <a:r>
              <a:rPr lang="vi-VN" altLang="en-US" sz="1200" b="1" dirty="0">
                <a:solidFill>
                  <a:srgbClr val="1F2937">
                    <a:alpha val="40000"/>
                  </a:srgbClr>
                </a:solidFill>
                <a:latin typeface="Times New Roman" pitchFamily="34" charset="0"/>
                <a:ea typeface="Times New Roman" pitchFamily="34" charset="-122"/>
                <a:cs typeface="Times New Roman" pitchFamily="34" charset="-120"/>
              </a:rPr>
              <a:t>👋 Xin chào nhà nông,</a:t>
            </a:r>
            <a:endParaRPr lang="vi-VN" sz="1200" dirty="0"/>
          </a:p>
        </p:txBody>
      </p:sp>
      <p:sp>
        <p:nvSpPr>
          <p:cNvPr id="40" name="editable-text-038"/>
          <p:cNvSpPr/>
          <p:nvPr/>
        </p:nvSpPr>
        <p:spPr>
          <a:xfrm>
            <a:off x="9144000" y="2087880"/>
            <a:ext cx="1642269" cy="284480"/>
          </a:xfrm>
          <a:prstGeom prst="rect">
            <a:avLst/>
          </a:prstGeom>
          <a:noFill/>
          <a:ln/>
        </p:spPr>
        <p:txBody>
          <a:bodyPr wrap="none" lIns="0" tIns="0" rIns="0" bIns="0" rtlCol="0" anchor="t"/>
          <a:lstStyle/>
          <a:p>
            <a:pPr algn="l" indent="0" marL="0">
              <a:buNone/>
            </a:pPr>
            <a:r>
              <a:rPr lang="vi-VN" altLang="en-US" sz="900" dirty="0">
                <a:solidFill>
                  <a:srgbClr val="6B7280">
                    <a:alpha val="40000"/>
                  </a:srgbClr>
                </a:solidFill>
                <a:latin typeface="Times New Roman" pitchFamily="34" charset="0"/>
                <a:ea typeface="Times New Roman" pitchFamily="34" charset="-122"/>
                <a:cs typeface="Times New Roman" pitchFamily="34" charset="-120"/>
              </a:rPr>
              <a:t>Hôm nay bạn muốn làm gì?</a:t>
            </a:r>
            <a:endParaRPr lang="vi-VN" sz="900" dirty="0"/>
          </a:p>
        </p:txBody>
      </p:sp>
      <p:sp>
        <p:nvSpPr>
          <p:cNvPr id="41" name="editable-text-039"/>
          <p:cNvSpPr/>
          <p:nvPr/>
        </p:nvSpPr>
        <p:spPr>
          <a:xfrm>
            <a:off x="9804400" y="2727960"/>
            <a:ext cx="1460500" cy="294640"/>
          </a:xfrm>
          <a:prstGeom prst="rect">
            <a:avLst/>
          </a:prstGeom>
          <a:noFill/>
          <a:ln/>
        </p:spPr>
        <p:txBody>
          <a:bodyPr wrap="none" lIns="0" tIns="0" rIns="0" bIns="0" rtlCol="0" anchor="t"/>
          <a:lstStyle/>
          <a:p>
            <a:pPr algn="l" indent="0" marL="0">
              <a:buNone/>
            </a:pPr>
            <a:r>
              <a:rPr lang="vi-VN" altLang="en-US" sz="1050" b="1" dirty="0">
                <a:solidFill>
                  <a:srgbClr val="1F2937">
                    <a:alpha val="40000"/>
                  </a:srgbClr>
                </a:solidFill>
                <a:latin typeface="Times New Roman" pitchFamily="34" charset="0"/>
                <a:ea typeface="Times New Roman" pitchFamily="34" charset="-122"/>
                <a:cs typeface="Times New Roman" pitchFamily="34" charset="-120"/>
              </a:rPr>
              <a:t>Dự báo Giá Cà Phê</a:t>
            </a:r>
            <a:endParaRPr lang="vi-VN" sz="1050" dirty="0"/>
          </a:p>
        </p:txBody>
      </p:sp>
      <p:sp>
        <p:nvSpPr>
          <p:cNvPr id="42" name="editable-text-040"/>
          <p:cNvSpPr/>
          <p:nvPr/>
        </p:nvSpPr>
        <p:spPr>
          <a:xfrm>
            <a:off x="9804400" y="2946400"/>
            <a:ext cx="1540034" cy="409416"/>
          </a:xfrm>
          <a:prstGeom prst="rect">
            <a:avLst/>
          </a:prstGeom>
          <a:noFill/>
          <a:ln/>
        </p:spPr>
        <p:txBody>
          <a:bodyPr wrap="square" lIns="0" tIns="0" rIns="0" bIns="0" rtlCol="0" anchor="t"/>
          <a:lstStyle/>
          <a:p>
            <a:pPr algn="l" indent="0" marL="0">
              <a:buNone/>
            </a:pPr>
            <a:r>
              <a:rPr lang="vi-VN" altLang="en-US" sz="825" dirty="0">
                <a:solidFill>
                  <a:srgbClr val="6B7280">
                    <a:alpha val="40000"/>
                  </a:srgbClr>
                </a:solidFill>
                <a:latin typeface="Times New Roman" pitchFamily="34" charset="0"/>
                <a:ea typeface="Times New Roman" pitchFamily="34" charset="-122"/>
                <a:cs typeface="Times New Roman" pitchFamily="34" charset="-120"/>
              </a:rPr>
              <a:t>Xem dự báo giá ở các tháng tới, mức độ tin cậy.</a:t>
            </a:r>
            <a:endParaRPr lang="vi-VN" sz="825" dirty="0"/>
          </a:p>
        </p:txBody>
      </p:sp>
      <p:sp>
        <p:nvSpPr>
          <p:cNvPr id="43" name="editable-text-041"/>
          <p:cNvSpPr/>
          <p:nvPr/>
        </p:nvSpPr>
        <p:spPr>
          <a:xfrm>
            <a:off x="9804400" y="3622992"/>
            <a:ext cx="1306512" cy="294640"/>
          </a:xfrm>
          <a:prstGeom prst="rect">
            <a:avLst/>
          </a:prstGeom>
          <a:noFill/>
          <a:ln/>
        </p:spPr>
        <p:txBody>
          <a:bodyPr wrap="none" lIns="0" tIns="0" rIns="0" bIns="0" rtlCol="0" anchor="t"/>
          <a:lstStyle/>
          <a:p>
            <a:pPr algn="l" indent="0" marL="0">
              <a:buNone/>
            </a:pPr>
            <a:r>
              <a:rPr lang="vi-VN" altLang="en-US" sz="1050" b="1" dirty="0">
                <a:solidFill>
                  <a:srgbClr val="1F2937">
                    <a:alpha val="40000"/>
                  </a:srgbClr>
                </a:solidFill>
                <a:latin typeface="Times New Roman" pitchFamily="34" charset="0"/>
                <a:ea typeface="Times New Roman" pitchFamily="34" charset="-122"/>
                <a:cs typeface="Times New Roman" pitchFamily="34" charset="-120"/>
              </a:rPr>
              <a:t>Tư vấn Canh tác</a:t>
            </a:r>
            <a:endParaRPr lang="vi-VN" sz="1050" dirty="0"/>
          </a:p>
        </p:txBody>
      </p:sp>
      <p:sp>
        <p:nvSpPr>
          <p:cNvPr id="44" name="editable-text-042"/>
          <p:cNvSpPr/>
          <p:nvPr/>
        </p:nvSpPr>
        <p:spPr>
          <a:xfrm>
            <a:off x="9804400" y="3841432"/>
            <a:ext cx="1479550" cy="409416"/>
          </a:xfrm>
          <a:prstGeom prst="rect">
            <a:avLst/>
          </a:prstGeom>
          <a:noFill/>
          <a:ln/>
        </p:spPr>
        <p:txBody>
          <a:bodyPr wrap="square" lIns="0" tIns="0" rIns="0" bIns="0" rtlCol="0" anchor="t"/>
          <a:lstStyle/>
          <a:p>
            <a:pPr algn="l" indent="0" marL="0">
              <a:buNone/>
            </a:pPr>
            <a:r>
              <a:rPr lang="vi-VN" altLang="en-US" sz="825" dirty="0">
                <a:solidFill>
                  <a:srgbClr val="6B7280">
                    <a:alpha val="40000"/>
                  </a:srgbClr>
                </a:solidFill>
                <a:latin typeface="Times New Roman" pitchFamily="34" charset="0"/>
                <a:ea typeface="Times New Roman" pitchFamily="34" charset="-122"/>
                <a:cs typeface="Times New Roman" pitchFamily="34" charset="-120"/>
              </a:rPr>
              <a:t>Nhận lời khuyên chăm sóc vườn dựa trên thời tiết.</a:t>
            </a:r>
            <a:endParaRPr lang="vi-VN" sz="825" dirty="0"/>
          </a:p>
        </p:txBody>
      </p:sp>
      <p:sp>
        <p:nvSpPr>
          <p:cNvPr id="45" name="editable-text-043"/>
          <p:cNvSpPr/>
          <p:nvPr/>
        </p:nvSpPr>
        <p:spPr>
          <a:xfrm>
            <a:off x="9804400" y="4518025"/>
            <a:ext cx="1450657" cy="294640"/>
          </a:xfrm>
          <a:prstGeom prst="rect">
            <a:avLst/>
          </a:prstGeom>
          <a:noFill/>
          <a:ln/>
        </p:spPr>
        <p:txBody>
          <a:bodyPr wrap="none" lIns="0" tIns="0" rIns="0" bIns="0" rtlCol="0" anchor="t"/>
          <a:lstStyle/>
          <a:p>
            <a:pPr algn="l" indent="0" marL="0">
              <a:buNone/>
            </a:pPr>
            <a:r>
              <a:rPr lang="vi-VN" altLang="en-US" sz="1050" b="1" dirty="0">
                <a:solidFill>
                  <a:srgbClr val="1F2937">
                    <a:alpha val="40000"/>
                  </a:srgbClr>
                </a:solidFill>
                <a:latin typeface="Times New Roman" pitchFamily="34" charset="0"/>
                <a:ea typeface="Times New Roman" pitchFamily="34" charset="-122"/>
                <a:cs typeface="Times New Roman" pitchFamily="34" charset="-120"/>
              </a:rPr>
              <a:t>Cảnh báo sâu bệnh</a:t>
            </a:r>
            <a:endParaRPr lang="vi-VN" sz="1050" dirty="0"/>
          </a:p>
        </p:txBody>
      </p:sp>
      <p:sp>
        <p:nvSpPr>
          <p:cNvPr id="46" name="editable-text-044"/>
          <p:cNvSpPr/>
          <p:nvPr/>
        </p:nvSpPr>
        <p:spPr>
          <a:xfrm>
            <a:off x="9804400" y="4736465"/>
            <a:ext cx="1437640" cy="409416"/>
          </a:xfrm>
          <a:prstGeom prst="rect">
            <a:avLst/>
          </a:prstGeom>
          <a:noFill/>
          <a:ln/>
        </p:spPr>
        <p:txBody>
          <a:bodyPr wrap="none" lIns="0" tIns="0" rIns="0" bIns="0" rtlCol="0" anchor="t"/>
          <a:lstStyle/>
          <a:p>
            <a:pPr algn="l" indent="0" marL="0">
              <a:buNone/>
            </a:pPr>
            <a:r>
              <a:rPr lang="vi-VN" altLang="en-US" sz="825" dirty="0">
                <a:solidFill>
                  <a:srgbClr val="6B7280">
                    <a:alpha val="40000"/>
                  </a:srgbClr>
                </a:solidFill>
                <a:latin typeface="Times New Roman" pitchFamily="34" charset="0"/>
                <a:ea typeface="Times New Roman" pitchFamily="34" charset="-122"/>
                <a:cs typeface="Times New Roman" pitchFamily="34" charset="-120"/>
              </a:rPr>
              <a:t>Phòng ngừa các bệnh phổ biến mùa mưa.</a:t>
            </a:r>
            <a:endParaRPr lang="vi-VN" sz="825" dirty="0"/>
          </a:p>
        </p:txBody>
      </p:sp>
      <p:sp>
        <p:nvSpPr>
          <p:cNvPr id="47" name="editable-text-045"/>
          <p:cNvSpPr/>
          <p:nvPr/>
        </p:nvSpPr>
        <p:spPr>
          <a:xfrm>
            <a:off x="11450161" y="6441440"/>
            <a:ext cx="37592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9</a:t>
            </a:r>
            <a:endParaRPr lang="vi-VN" sz="1350" dirty="0"/>
          </a:p>
        </p:txBody>
      </p:sp>
      <p:sp>
        <p:nvSpPr>
          <p:cNvPr id="48" name="editable-text-046"/>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49" name="editable-text-047"/>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10-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40080"/>
            <a:ext cx="7315200" cy="95504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PHƯƠNG PHÁP KỸ THUẬT &amp; ĐẶC TRƯNG</a:t>
            </a:r>
            <a:endParaRPr lang="vi-VN" sz="2700" dirty="0"/>
          </a:p>
        </p:txBody>
      </p:sp>
      <p:sp>
        <p:nvSpPr>
          <p:cNvPr id="4" name="editable-text-002"/>
          <p:cNvSpPr/>
          <p:nvPr/>
        </p:nvSpPr>
        <p:spPr>
          <a:xfrm>
            <a:off x="8665051" y="863600"/>
            <a:ext cx="3657600" cy="4978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9804717" y="1300480"/>
            <a:ext cx="2021522"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812800" y="3087687"/>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7" name="editable-text-005"/>
          <p:cNvSpPr/>
          <p:nvPr/>
        </p:nvSpPr>
        <p:spPr>
          <a:xfrm>
            <a:off x="1082199" y="3097847"/>
            <a:ext cx="5486400"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Mô hình học máy:</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Random Forest Regressor (Ensemble Bagging).</a:t>
            </a:r>
            <a:endParaRPr lang="vi-VN" sz="1980" dirty="0"/>
          </a:p>
        </p:txBody>
      </p:sp>
      <p:sp>
        <p:nvSpPr>
          <p:cNvPr id="8" name="editable-text-006"/>
          <p:cNvSpPr/>
          <p:nvPr/>
        </p:nvSpPr>
        <p:spPr>
          <a:xfrm>
            <a:off x="812800" y="3700304"/>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9" name="editable-text-007"/>
          <p:cNvSpPr/>
          <p:nvPr/>
        </p:nvSpPr>
        <p:spPr>
          <a:xfrm>
            <a:off x="1082199" y="3710464"/>
            <a:ext cx="7859554"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Cyclic Encoding:</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Mã hóa chu kỳ tháng bằng hàm Sin/Cos (Giữ tính liền mạch T12-T1).</a:t>
            </a:r>
            <a:endParaRPr lang="vi-VN" sz="1980" dirty="0"/>
          </a:p>
        </p:txBody>
      </p:sp>
      <p:sp>
        <p:nvSpPr>
          <p:cNvPr id="10" name="editable-text-008"/>
          <p:cNvSpPr/>
          <p:nvPr/>
        </p:nvSpPr>
        <p:spPr>
          <a:xfrm>
            <a:off x="812800" y="431292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1" name="editable-text-009"/>
          <p:cNvSpPr/>
          <p:nvPr/>
        </p:nvSpPr>
        <p:spPr>
          <a:xfrm>
            <a:off x="1082199" y="4323080"/>
            <a:ext cx="5486400"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Area-based Lags:</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Đặc trưng tự hồi quy được cô lập theo huyện.</a:t>
            </a:r>
            <a:endParaRPr lang="vi-VN" sz="1980" dirty="0"/>
          </a:p>
        </p:txBody>
      </p:sp>
      <p:sp>
        <p:nvSpPr>
          <p:cNvPr id="12" name="editable-text-010"/>
          <p:cNvSpPr/>
          <p:nvPr/>
        </p:nvSpPr>
        <p:spPr>
          <a:xfrm>
            <a:off x="812800" y="4925536"/>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3" name="editable-text-011"/>
          <p:cNvSpPr/>
          <p:nvPr/>
        </p:nvSpPr>
        <p:spPr>
          <a:xfrm>
            <a:off x="1082199" y="4935696"/>
            <a:ext cx="5486400"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Mục tiêu cốt lõi:</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Chống rò rỉ dữ liệu (Data Leakage) chéo địa lý.</a:t>
            </a:r>
            <a:endParaRPr lang="vi-VN" sz="1980" dirty="0"/>
          </a:p>
        </p:txBody>
      </p:sp>
      <p:sp>
        <p:nvSpPr>
          <p:cNvPr id="14" name="editable-text-012"/>
          <p:cNvSpPr/>
          <p:nvPr/>
        </p:nvSpPr>
        <p:spPr>
          <a:xfrm>
            <a:off x="11358721"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10</a:t>
            </a:r>
            <a:endParaRPr lang="vi-VN" sz="1350" dirty="0"/>
          </a:p>
        </p:txBody>
      </p:sp>
      <p:sp>
        <p:nvSpPr>
          <p:cNvPr id="15" name="editable-text-013"/>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16" name="editable-text-014"/>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11-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40080"/>
            <a:ext cx="7654607"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KẾT QUẢ ĐỊNH LƯỢNG (TẬP TEST 2025)</a:t>
            </a:r>
            <a:endParaRPr lang="vi-VN" sz="2700" dirty="0"/>
          </a:p>
        </p:txBody>
      </p:sp>
      <p:sp>
        <p:nvSpPr>
          <p:cNvPr id="4" name="editable-text-002"/>
          <p:cNvSpPr/>
          <p:nvPr/>
        </p:nvSpPr>
        <p:spPr>
          <a:xfrm>
            <a:off x="8364855" y="66040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9804717" y="89408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2072640" y="1971040"/>
            <a:ext cx="853440" cy="406400"/>
          </a:xfrm>
          <a:prstGeom prst="rect">
            <a:avLst/>
          </a:prstGeom>
          <a:noFill/>
          <a:ln/>
        </p:spPr>
        <p:txBody>
          <a:bodyPr wrap="none" lIns="0" tIns="0" rIns="0" bIns="0" rtlCol="0" anchor="t"/>
          <a:lstStyle/>
          <a:p>
            <a:pPr algn="ctr" indent="0" marL="0">
              <a:buNone/>
            </a:pPr>
            <a:r>
              <a:rPr lang="vi-VN" altLang="en-US" sz="1800" b="1" dirty="0">
                <a:solidFill>
                  <a:srgbClr val="374151"/>
                </a:solidFill>
                <a:latin typeface="Times New Roman" pitchFamily="34" charset="0"/>
                <a:ea typeface="Times New Roman" pitchFamily="34" charset="-122"/>
                <a:cs typeface="Times New Roman" pitchFamily="34" charset="-120"/>
              </a:rPr>
              <a:t>MAE</a:t>
            </a:r>
            <a:endParaRPr lang="vi-VN" sz="1800" dirty="0"/>
          </a:p>
        </p:txBody>
      </p:sp>
      <p:sp>
        <p:nvSpPr>
          <p:cNvPr id="7" name="editable-text-005"/>
          <p:cNvSpPr/>
          <p:nvPr/>
        </p:nvSpPr>
        <p:spPr>
          <a:xfrm>
            <a:off x="1686560" y="2397760"/>
            <a:ext cx="1625600" cy="680720"/>
          </a:xfrm>
          <a:prstGeom prst="rect">
            <a:avLst/>
          </a:prstGeom>
          <a:noFill/>
          <a:ln/>
        </p:spPr>
        <p:txBody>
          <a:bodyPr wrap="square" lIns="0" tIns="0" rIns="0" bIns="0" rtlCol="0" anchor="t"/>
          <a:lstStyle/>
          <a:p>
            <a:pPr algn="ctr" indent="0" marL="0">
              <a:buNone/>
            </a:pPr>
            <a:r>
              <a:rPr lang="vi-VN" altLang="en-US" sz="3600" b="1" dirty="0">
                <a:solidFill>
                  <a:srgbClr val="1E3A8A"/>
                </a:solidFill>
                <a:latin typeface="Times New Roman" pitchFamily="34" charset="0"/>
                <a:ea typeface="Times New Roman" pitchFamily="34" charset="-122"/>
                <a:cs typeface="Times New Roman" pitchFamily="34" charset="-120"/>
              </a:rPr>
              <a:t>13,552</a:t>
            </a:r>
            <a:endParaRPr lang="vi-VN" sz="3600" dirty="0"/>
          </a:p>
        </p:txBody>
      </p:sp>
      <p:sp>
        <p:nvSpPr>
          <p:cNvPr id="8" name="editable-text-006"/>
          <p:cNvSpPr/>
          <p:nvPr/>
        </p:nvSpPr>
        <p:spPr>
          <a:xfrm>
            <a:off x="2001361" y="3027680"/>
            <a:ext cx="995839" cy="365760"/>
          </a:xfrm>
          <a:prstGeom prst="rect">
            <a:avLst/>
          </a:prstGeom>
          <a:noFill/>
          <a:ln/>
        </p:spPr>
        <p:txBody>
          <a:bodyPr wrap="none" lIns="0" tIns="0" rIns="0" bIns="0" rtlCol="0" anchor="t"/>
          <a:lstStyle/>
          <a:p>
            <a:pPr algn="ctr" indent="0" marL="0">
              <a:buNone/>
            </a:pPr>
            <a:r>
              <a:rPr lang="vi-VN" altLang="en-US" sz="1500" b="1" dirty="0">
                <a:solidFill>
                  <a:srgbClr val="6B7280"/>
                </a:solidFill>
                <a:latin typeface="Times New Roman" pitchFamily="34" charset="0"/>
                <a:ea typeface="Times New Roman" pitchFamily="34" charset="-122"/>
                <a:cs typeface="Times New Roman" pitchFamily="34" charset="-120"/>
              </a:rPr>
              <a:t>VND/kg</a:t>
            </a:r>
            <a:endParaRPr lang="vi-VN" sz="1500" dirty="0"/>
          </a:p>
        </p:txBody>
      </p:sp>
      <p:sp>
        <p:nvSpPr>
          <p:cNvPr id="9" name="editable-text-007"/>
          <p:cNvSpPr/>
          <p:nvPr/>
        </p:nvSpPr>
        <p:spPr>
          <a:xfrm>
            <a:off x="5743734" y="1971040"/>
            <a:ext cx="989012" cy="406400"/>
          </a:xfrm>
          <a:prstGeom prst="rect">
            <a:avLst/>
          </a:prstGeom>
          <a:noFill/>
          <a:ln/>
        </p:spPr>
        <p:txBody>
          <a:bodyPr wrap="none" lIns="0" tIns="0" rIns="0" bIns="0" rtlCol="0" anchor="t"/>
          <a:lstStyle/>
          <a:p>
            <a:pPr algn="ctr" indent="0" marL="0">
              <a:buNone/>
            </a:pPr>
            <a:r>
              <a:rPr lang="vi-VN" altLang="en-US" sz="1800" b="1" dirty="0">
                <a:solidFill>
                  <a:srgbClr val="374151"/>
                </a:solidFill>
                <a:latin typeface="Times New Roman" pitchFamily="34" charset="0"/>
                <a:ea typeface="Times New Roman" pitchFamily="34" charset="-122"/>
                <a:cs typeface="Times New Roman" pitchFamily="34" charset="-120"/>
              </a:rPr>
              <a:t>RMSE</a:t>
            </a:r>
            <a:endParaRPr lang="vi-VN" sz="1800" dirty="0"/>
          </a:p>
        </p:txBody>
      </p:sp>
      <p:sp>
        <p:nvSpPr>
          <p:cNvPr id="10" name="editable-text-008"/>
          <p:cNvSpPr/>
          <p:nvPr/>
        </p:nvSpPr>
        <p:spPr>
          <a:xfrm>
            <a:off x="5425440" y="2397760"/>
            <a:ext cx="1625600" cy="680720"/>
          </a:xfrm>
          <a:prstGeom prst="rect">
            <a:avLst/>
          </a:prstGeom>
          <a:noFill/>
          <a:ln/>
        </p:spPr>
        <p:txBody>
          <a:bodyPr wrap="square" lIns="0" tIns="0" rIns="0" bIns="0" rtlCol="0" anchor="t"/>
          <a:lstStyle/>
          <a:p>
            <a:pPr algn="ctr" indent="0" marL="0">
              <a:buNone/>
            </a:pPr>
            <a:r>
              <a:rPr lang="vi-VN" altLang="en-US" sz="3600" b="1" dirty="0">
                <a:solidFill>
                  <a:srgbClr val="1E3A8A"/>
                </a:solidFill>
                <a:latin typeface="Times New Roman" pitchFamily="34" charset="0"/>
                <a:ea typeface="Times New Roman" pitchFamily="34" charset="-122"/>
                <a:cs typeface="Times New Roman" pitchFamily="34" charset="-120"/>
              </a:rPr>
              <a:t>16,754</a:t>
            </a:r>
            <a:endParaRPr lang="vi-VN" sz="3600" dirty="0"/>
          </a:p>
        </p:txBody>
      </p:sp>
      <p:sp>
        <p:nvSpPr>
          <p:cNvPr id="11" name="editable-text-009"/>
          <p:cNvSpPr/>
          <p:nvPr/>
        </p:nvSpPr>
        <p:spPr>
          <a:xfrm>
            <a:off x="5740241" y="3027680"/>
            <a:ext cx="995839" cy="365760"/>
          </a:xfrm>
          <a:prstGeom prst="rect">
            <a:avLst/>
          </a:prstGeom>
          <a:noFill/>
          <a:ln/>
        </p:spPr>
        <p:txBody>
          <a:bodyPr wrap="none" lIns="0" tIns="0" rIns="0" bIns="0" rtlCol="0" anchor="t"/>
          <a:lstStyle/>
          <a:p>
            <a:pPr algn="ctr" indent="0" marL="0">
              <a:buNone/>
            </a:pPr>
            <a:r>
              <a:rPr lang="vi-VN" altLang="en-US" sz="1500" b="1" dirty="0">
                <a:solidFill>
                  <a:srgbClr val="6B7280"/>
                </a:solidFill>
                <a:latin typeface="Times New Roman" pitchFamily="34" charset="0"/>
                <a:ea typeface="Times New Roman" pitchFamily="34" charset="-122"/>
                <a:cs typeface="Times New Roman" pitchFamily="34" charset="-120"/>
              </a:rPr>
              <a:t>VND/kg</a:t>
            </a:r>
            <a:endParaRPr lang="vi-VN" sz="1500" dirty="0"/>
          </a:p>
        </p:txBody>
      </p:sp>
      <p:sp>
        <p:nvSpPr>
          <p:cNvPr id="12" name="editable-text-010"/>
          <p:cNvSpPr/>
          <p:nvPr/>
        </p:nvSpPr>
        <p:spPr>
          <a:xfrm>
            <a:off x="9710261" y="1971040"/>
            <a:ext cx="533717" cy="406400"/>
          </a:xfrm>
          <a:prstGeom prst="rect">
            <a:avLst/>
          </a:prstGeom>
          <a:noFill/>
          <a:ln/>
        </p:spPr>
        <p:txBody>
          <a:bodyPr wrap="none" lIns="0" tIns="0" rIns="0" bIns="0" rtlCol="0" anchor="t"/>
          <a:lstStyle/>
          <a:p>
            <a:pPr algn="ctr" indent="0" marL="0">
              <a:buNone/>
            </a:pPr>
            <a:r>
              <a:rPr lang="vi-VN" altLang="en-US" sz="1800" b="1" dirty="0">
                <a:solidFill>
                  <a:srgbClr val="374151"/>
                </a:solidFill>
                <a:latin typeface="Times New Roman" pitchFamily="34" charset="0"/>
                <a:ea typeface="Times New Roman" pitchFamily="34" charset="-122"/>
                <a:cs typeface="Times New Roman" pitchFamily="34" charset="-120"/>
              </a:rPr>
              <a:t>R²</a:t>
            </a:r>
            <a:endParaRPr lang="vi-VN" sz="1800" dirty="0"/>
          </a:p>
        </p:txBody>
      </p:sp>
      <p:sp>
        <p:nvSpPr>
          <p:cNvPr id="13" name="editable-text-011"/>
          <p:cNvSpPr/>
          <p:nvPr/>
        </p:nvSpPr>
        <p:spPr>
          <a:xfrm>
            <a:off x="9083040" y="2397760"/>
            <a:ext cx="1788001" cy="680720"/>
          </a:xfrm>
          <a:prstGeom prst="rect">
            <a:avLst/>
          </a:prstGeom>
          <a:noFill/>
          <a:ln/>
        </p:spPr>
        <p:txBody>
          <a:bodyPr wrap="square" lIns="0" tIns="0" rIns="0" bIns="0" rtlCol="0" anchor="t"/>
          <a:lstStyle/>
          <a:p>
            <a:pPr algn="ctr" indent="0" marL="0">
              <a:buNone/>
            </a:pPr>
            <a:r>
              <a:rPr lang="vi-VN" altLang="en-US" sz="3600" b="1" dirty="0">
                <a:solidFill>
                  <a:srgbClr val="000000"/>
                </a:solidFill>
                <a:latin typeface="Times New Roman" pitchFamily="34" charset="0"/>
                <a:ea typeface="Times New Roman" pitchFamily="34" charset="-122"/>
                <a:cs typeface="Times New Roman" pitchFamily="34" charset="-120"/>
              </a:rPr>
              <a:t>-0.9044</a:t>
            </a:r>
            <a:endParaRPr lang="vi-VN" sz="3600" dirty="0"/>
          </a:p>
        </p:txBody>
      </p:sp>
      <p:sp>
        <p:nvSpPr>
          <p:cNvPr id="14" name="editable-text-012"/>
          <p:cNvSpPr/>
          <p:nvPr/>
        </p:nvSpPr>
        <p:spPr>
          <a:xfrm>
            <a:off x="9676765" y="3027680"/>
            <a:ext cx="600551" cy="365760"/>
          </a:xfrm>
          <a:prstGeom prst="rect">
            <a:avLst/>
          </a:prstGeom>
          <a:noFill/>
          <a:ln/>
        </p:spPr>
        <p:txBody>
          <a:bodyPr wrap="none" lIns="0" tIns="0" rIns="0" bIns="0" rtlCol="0" anchor="t"/>
          <a:lstStyle/>
          <a:p>
            <a:pPr algn="ctr" indent="0" marL="0">
              <a:buNone/>
            </a:pPr>
            <a:r>
              <a:rPr lang="vi-VN" altLang="en-US" sz="1500" b="1" dirty="0">
                <a:solidFill>
                  <a:srgbClr val="6B7280"/>
                </a:solidFill>
                <a:latin typeface="Times New Roman" pitchFamily="34" charset="0"/>
                <a:ea typeface="Times New Roman" pitchFamily="34" charset="-122"/>
                <a:cs typeface="Times New Roman" pitchFamily="34" charset="-120"/>
              </a:rPr>
              <a:t>Âm</a:t>
            </a:r>
            <a:endParaRPr lang="vi-VN" sz="1500" dirty="0"/>
          </a:p>
        </p:txBody>
      </p:sp>
      <p:sp>
        <p:nvSpPr>
          <p:cNvPr id="15" name="editable-text-013"/>
          <p:cNvSpPr/>
          <p:nvPr/>
        </p:nvSpPr>
        <p:spPr>
          <a:xfrm>
            <a:off x="1056640" y="4490720"/>
            <a:ext cx="369887" cy="406400"/>
          </a:xfrm>
          <a:prstGeom prst="rect">
            <a:avLst/>
          </a:prstGeom>
          <a:noFill/>
          <a:ln/>
        </p:spPr>
        <p:txBody>
          <a:bodyPr wrap="none" lIns="0" tIns="0" rIns="0" bIns="0" rtlCol="0" anchor="t"/>
          <a:lstStyle/>
          <a:p>
            <a:pPr algn="l" indent="0" marL="0">
              <a:buNone/>
            </a:pPr>
            <a:r>
              <a:rPr lang="vi-VN" altLang="en-US" sz="1800" b="1" dirty="0">
                <a:solidFill>
                  <a:srgbClr val="2563EB"/>
                </a:solidFill>
                <a:latin typeface="Times New Roman" pitchFamily="34" charset="0"/>
                <a:ea typeface="Times New Roman" pitchFamily="34" charset="-122"/>
                <a:cs typeface="Times New Roman" pitchFamily="34" charset="-120"/>
              </a:rPr>
              <a:t>•</a:t>
            </a:r>
            <a:endParaRPr lang="vi-VN" sz="1800" dirty="0"/>
          </a:p>
        </p:txBody>
      </p:sp>
      <p:sp>
        <p:nvSpPr>
          <p:cNvPr id="16" name="editable-text-014"/>
          <p:cNvSpPr/>
          <p:nvPr/>
        </p:nvSpPr>
        <p:spPr>
          <a:xfrm>
            <a:off x="1304607" y="4490720"/>
            <a:ext cx="7443152" cy="406400"/>
          </a:xfrm>
          <a:prstGeom prst="rect">
            <a:avLst/>
          </a:prstGeom>
          <a:noFill/>
          <a:ln/>
        </p:spPr>
        <p:txBody>
          <a:bodyPr wrap="square" lIns="0" tIns="0" rIns="0" bIns="0" rtlCol="0" anchor="t"/>
          <a:lstStyle/>
          <a:p>
            <a:pPr algn="l" indent="0" marL="0">
              <a:buNone/>
            </a:pPr>
            <a:r>
              <a:rPr lang="vi-VN" altLang="en-US" sz="1800" dirty="0">
                <a:solidFill>
                  <a:srgbClr val="1F2937"/>
                </a:solidFill>
                <a:latin typeface="Times New Roman" pitchFamily="34" charset="0"/>
                <a:ea typeface="Times New Roman" pitchFamily="34" charset="-122"/>
                <a:cs typeface="Times New Roman" pitchFamily="34" charset="-120"/>
              </a:rPr>
              <a:t>Trình bày trung thực R² âm do Giới hạn Ngoại suy (Extrapolation Limit).</a:t>
            </a:r>
            <a:endParaRPr lang="vi-VN" sz="1800" dirty="0"/>
          </a:p>
        </p:txBody>
      </p:sp>
      <p:sp>
        <p:nvSpPr>
          <p:cNvPr id="17" name="editable-text-015"/>
          <p:cNvSpPr/>
          <p:nvPr/>
        </p:nvSpPr>
        <p:spPr>
          <a:xfrm>
            <a:off x="1056640" y="4978400"/>
            <a:ext cx="369887" cy="406400"/>
          </a:xfrm>
          <a:prstGeom prst="rect">
            <a:avLst/>
          </a:prstGeom>
          <a:noFill/>
          <a:ln/>
        </p:spPr>
        <p:txBody>
          <a:bodyPr wrap="none" lIns="0" tIns="0" rIns="0" bIns="0" rtlCol="0" anchor="t"/>
          <a:lstStyle/>
          <a:p>
            <a:pPr algn="l" indent="0" marL="0">
              <a:buNone/>
            </a:pPr>
            <a:r>
              <a:rPr lang="vi-VN" altLang="en-US" sz="1800" b="1" dirty="0">
                <a:solidFill>
                  <a:srgbClr val="2563EB"/>
                </a:solidFill>
                <a:latin typeface="Times New Roman" pitchFamily="34" charset="0"/>
                <a:ea typeface="Times New Roman" pitchFamily="34" charset="-122"/>
                <a:cs typeface="Times New Roman" pitchFamily="34" charset="-120"/>
              </a:rPr>
              <a:t>•</a:t>
            </a:r>
            <a:endParaRPr lang="vi-VN" sz="1800" dirty="0"/>
          </a:p>
        </p:txBody>
      </p:sp>
      <p:sp>
        <p:nvSpPr>
          <p:cNvPr id="18" name="editable-text-016"/>
          <p:cNvSpPr/>
          <p:nvPr/>
        </p:nvSpPr>
        <p:spPr>
          <a:xfrm>
            <a:off x="1304607" y="4978400"/>
            <a:ext cx="5486400" cy="772160"/>
          </a:xfrm>
          <a:prstGeom prst="rect">
            <a:avLst/>
          </a:prstGeom>
          <a:noFill/>
          <a:ln/>
        </p:spPr>
        <p:txBody>
          <a:bodyPr wrap="square" lIns="0" tIns="0" rIns="0" bIns="0" rtlCol="0" anchor="t"/>
          <a:lstStyle/>
          <a:p>
            <a:pPr algn="l"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Tập Train (2022-2024):</a:t>
            </a:r>
            <a:pPr algn="l" indent="0" marL="0">
              <a:buNone/>
            </a:pPr>
            <a:r>
              <a:rPr lang="vi-VN" altLang="en-US" sz="1800" dirty="0">
                <a:solidFill>
                  <a:srgbClr val="1F2937"/>
                </a:solidFill>
                <a:latin typeface="Times New Roman" pitchFamily="34" charset="0"/>
                <a:ea typeface="Times New Roman" pitchFamily="34" charset="-122"/>
                <a:cs typeface="Times New Roman" pitchFamily="34" charset="-120"/>
              </a:rPr>
              <a:t> Miền giá thấp (35k - 70k).</a:t>
            </a:r>
            <a:endParaRPr lang="vi-VN" sz="1800" dirty="0"/>
          </a:p>
        </p:txBody>
      </p:sp>
      <p:sp>
        <p:nvSpPr>
          <p:cNvPr id="19" name="editable-text-017"/>
          <p:cNvSpPr/>
          <p:nvPr/>
        </p:nvSpPr>
        <p:spPr>
          <a:xfrm>
            <a:off x="1056640" y="5466080"/>
            <a:ext cx="369887" cy="406400"/>
          </a:xfrm>
          <a:prstGeom prst="rect">
            <a:avLst/>
          </a:prstGeom>
          <a:noFill/>
          <a:ln/>
        </p:spPr>
        <p:txBody>
          <a:bodyPr wrap="none" lIns="0" tIns="0" rIns="0" bIns="0" rtlCol="0" anchor="t"/>
          <a:lstStyle/>
          <a:p>
            <a:pPr algn="l" indent="0" marL="0">
              <a:buNone/>
            </a:pPr>
            <a:r>
              <a:rPr lang="vi-VN" altLang="en-US" sz="1800" b="1" dirty="0">
                <a:solidFill>
                  <a:srgbClr val="2563EB"/>
                </a:solidFill>
                <a:latin typeface="Times New Roman" pitchFamily="34" charset="0"/>
                <a:ea typeface="Times New Roman" pitchFamily="34" charset="-122"/>
                <a:cs typeface="Times New Roman" pitchFamily="34" charset="-120"/>
              </a:rPr>
              <a:t>•</a:t>
            </a:r>
            <a:endParaRPr lang="vi-VN" sz="1800" dirty="0"/>
          </a:p>
        </p:txBody>
      </p:sp>
      <p:sp>
        <p:nvSpPr>
          <p:cNvPr id="20" name="editable-text-018"/>
          <p:cNvSpPr/>
          <p:nvPr/>
        </p:nvSpPr>
        <p:spPr>
          <a:xfrm>
            <a:off x="1304607" y="5466080"/>
            <a:ext cx="5486400" cy="772160"/>
          </a:xfrm>
          <a:prstGeom prst="rect">
            <a:avLst/>
          </a:prstGeom>
          <a:noFill/>
          <a:ln/>
        </p:spPr>
        <p:txBody>
          <a:bodyPr wrap="square" lIns="0" tIns="0" rIns="0" bIns="0" rtlCol="0" anchor="t"/>
          <a:lstStyle/>
          <a:p>
            <a:pPr algn="l"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Thực tế 2025 (Black Swan):</a:t>
            </a:r>
            <a:pPr algn="l" indent="0" marL="0">
              <a:buNone/>
            </a:pPr>
            <a:r>
              <a:rPr lang="vi-VN" altLang="en-US" sz="1800" dirty="0">
                <a:solidFill>
                  <a:srgbClr val="1F2937"/>
                </a:solidFill>
                <a:latin typeface="Times New Roman" pitchFamily="34" charset="0"/>
                <a:ea typeface="Times New Roman" pitchFamily="34" charset="-122"/>
                <a:cs typeface="Times New Roman" pitchFamily="34" charset="-120"/>
              </a:rPr>
              <a:t> Giá bùng nổ vượt ngưỡng 100k - 120k.</a:t>
            </a:r>
            <a:endParaRPr lang="vi-VN" sz="1800" dirty="0"/>
          </a:p>
        </p:txBody>
      </p:sp>
      <p:sp>
        <p:nvSpPr>
          <p:cNvPr id="21" name="editable-text-019"/>
          <p:cNvSpPr/>
          <p:nvPr/>
        </p:nvSpPr>
        <p:spPr>
          <a:xfrm>
            <a:off x="1056640" y="5953760"/>
            <a:ext cx="369887" cy="406400"/>
          </a:xfrm>
          <a:prstGeom prst="rect">
            <a:avLst/>
          </a:prstGeom>
          <a:noFill/>
          <a:ln/>
        </p:spPr>
        <p:txBody>
          <a:bodyPr wrap="none" lIns="0" tIns="0" rIns="0" bIns="0" rtlCol="0" anchor="t"/>
          <a:lstStyle/>
          <a:p>
            <a:pPr algn="l" indent="0" marL="0">
              <a:buNone/>
            </a:pPr>
            <a:r>
              <a:rPr lang="vi-VN" altLang="en-US" sz="1800" b="1" dirty="0">
                <a:solidFill>
                  <a:srgbClr val="2563EB"/>
                </a:solidFill>
                <a:latin typeface="Times New Roman" pitchFamily="34" charset="0"/>
                <a:ea typeface="Times New Roman" pitchFamily="34" charset="-122"/>
                <a:cs typeface="Times New Roman" pitchFamily="34" charset="-120"/>
              </a:rPr>
              <a:t>•</a:t>
            </a:r>
            <a:endParaRPr lang="vi-VN" sz="1800" dirty="0"/>
          </a:p>
        </p:txBody>
      </p:sp>
      <p:sp>
        <p:nvSpPr>
          <p:cNvPr id="22" name="editable-text-020"/>
          <p:cNvSpPr/>
          <p:nvPr/>
        </p:nvSpPr>
        <p:spPr>
          <a:xfrm>
            <a:off x="1304607" y="5953760"/>
            <a:ext cx="6698456" cy="406400"/>
          </a:xfrm>
          <a:prstGeom prst="rect">
            <a:avLst/>
          </a:prstGeom>
          <a:noFill/>
          <a:ln/>
        </p:spPr>
        <p:txBody>
          <a:bodyPr wrap="square" lIns="0" tIns="0" rIns="0" bIns="0" rtlCol="0" anchor="t"/>
          <a:lstStyle/>
          <a:p>
            <a:pPr algn="l" indent="0" marL="0">
              <a:buNone/>
            </a:pPr>
            <a:r>
              <a:rPr lang="vi-VN" altLang="en-US" sz="1800" dirty="0">
                <a:solidFill>
                  <a:srgbClr val="1F2937"/>
                </a:solidFill>
                <a:latin typeface="Times New Roman" pitchFamily="34" charset="0"/>
                <a:ea typeface="Times New Roman" pitchFamily="34" charset="-122"/>
                <a:cs typeface="Times New Roman" pitchFamily="34" charset="-120"/>
              </a:rPr>
              <a:t>Mô hình Decision Tree bị giới hạn bởi trần dữ liệu đã học (~78k).</a:t>
            </a:r>
            <a:endParaRPr lang="vi-VN" sz="1800" dirty="0"/>
          </a:p>
        </p:txBody>
      </p:sp>
      <p:sp>
        <p:nvSpPr>
          <p:cNvPr id="23" name="editable-text-021"/>
          <p:cNvSpPr/>
          <p:nvPr/>
        </p:nvSpPr>
        <p:spPr>
          <a:xfrm>
            <a:off x="11368722" y="6441440"/>
            <a:ext cx="45735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11</a:t>
            </a:r>
            <a:endParaRPr lang="vi-VN" sz="1350" dirty="0"/>
          </a:p>
        </p:txBody>
      </p:sp>
      <p:sp>
        <p:nvSpPr>
          <p:cNvPr id="24" name="editable-text-022"/>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25" name="editable-text-023"/>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12-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4008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ROBUSTNESS (KHÁNG NHIỄU)</a:t>
            </a:r>
            <a:endParaRPr lang="vi-VN" sz="2700" dirty="0"/>
          </a:p>
        </p:txBody>
      </p:sp>
      <p:sp>
        <p:nvSpPr>
          <p:cNvPr id="4" name="editable-text-002"/>
          <p:cNvSpPr/>
          <p:nvPr/>
        </p:nvSpPr>
        <p:spPr>
          <a:xfrm>
            <a:off x="8364855" y="66040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9804717" y="89408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812800" y="257810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7" name="editable-text-005"/>
          <p:cNvSpPr/>
          <p:nvPr/>
        </p:nvSpPr>
        <p:spPr>
          <a:xfrm>
            <a:off x="1082199" y="2588260"/>
            <a:ext cx="5486400"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Bảo vệ 1:</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Validate request ở tầng API.</a:t>
            </a:r>
            <a:endParaRPr lang="vi-VN" sz="1980" dirty="0"/>
          </a:p>
        </p:txBody>
      </p:sp>
      <p:sp>
        <p:nvSpPr>
          <p:cNvPr id="8" name="editable-text-006"/>
          <p:cNvSpPr/>
          <p:nvPr/>
        </p:nvSpPr>
        <p:spPr>
          <a:xfrm>
            <a:off x="812800" y="3190716"/>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9" name="editable-text-007"/>
          <p:cNvSpPr/>
          <p:nvPr/>
        </p:nvSpPr>
        <p:spPr>
          <a:xfrm>
            <a:off x="1082199" y="3200876"/>
            <a:ext cx="7827010"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Pydantic schema chặn nhiệt độ, mưa, độ ẩm phi lý ngoài chuỗi hợp lệ.</a:t>
            </a:r>
            <a:endParaRPr lang="vi-VN" sz="1980" dirty="0"/>
          </a:p>
        </p:txBody>
      </p:sp>
      <p:sp>
        <p:nvSpPr>
          <p:cNvPr id="10" name="editable-text-008"/>
          <p:cNvSpPr/>
          <p:nvPr/>
        </p:nvSpPr>
        <p:spPr>
          <a:xfrm>
            <a:off x="812800" y="3803332"/>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1" name="editable-text-009"/>
          <p:cNvSpPr/>
          <p:nvPr/>
        </p:nvSpPr>
        <p:spPr>
          <a:xfrm>
            <a:off x="1082199" y="3813492"/>
            <a:ext cx="5486400"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Bảo vệ 2:</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Category Guard theo model đã train.</a:t>
            </a:r>
            <a:endParaRPr lang="vi-VN" sz="1980" dirty="0"/>
          </a:p>
        </p:txBody>
      </p:sp>
      <p:sp>
        <p:nvSpPr>
          <p:cNvPr id="12" name="editable-text-010"/>
          <p:cNvSpPr/>
          <p:nvPr/>
        </p:nvSpPr>
        <p:spPr>
          <a:xfrm>
            <a:off x="812800" y="4415949"/>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3" name="editable-text-011"/>
          <p:cNvSpPr/>
          <p:nvPr/>
        </p:nvSpPr>
        <p:spPr>
          <a:xfrm>
            <a:off x="1082199" y="4426109"/>
            <a:ext cx="9595167"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Chỉ cho phép dự đoán dựa trên các danh mục (Vùng đất, loại cà) thuộc tập huấn luyện.</a:t>
            </a:r>
            <a:endParaRPr lang="vi-VN" sz="1980" dirty="0"/>
          </a:p>
        </p:txBody>
      </p:sp>
      <p:sp>
        <p:nvSpPr>
          <p:cNvPr id="14" name="editable-text-012"/>
          <p:cNvSpPr/>
          <p:nvPr/>
        </p:nvSpPr>
        <p:spPr>
          <a:xfrm>
            <a:off x="812800" y="5028565"/>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5" name="editable-text-013"/>
          <p:cNvSpPr/>
          <p:nvPr/>
        </p:nvSpPr>
        <p:spPr>
          <a:xfrm>
            <a:off x="1082199" y="5038725"/>
            <a:ext cx="6532086"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Trả lỗi 422 cảnh báo rõ ràng thay vì suy luận sai âm thầm.</a:t>
            </a:r>
            <a:endParaRPr lang="vi-VN" sz="1980" dirty="0"/>
          </a:p>
        </p:txBody>
      </p:sp>
      <p:sp>
        <p:nvSpPr>
          <p:cNvPr id="16" name="editable-text-014"/>
          <p:cNvSpPr/>
          <p:nvPr/>
        </p:nvSpPr>
        <p:spPr>
          <a:xfrm>
            <a:off x="11358721"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12</a:t>
            </a:r>
            <a:endParaRPr lang="vi-VN" sz="1350" dirty="0"/>
          </a:p>
        </p:txBody>
      </p:sp>
      <p:sp>
        <p:nvSpPr>
          <p:cNvPr id="17" name="editable-text-015"/>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18" name="editable-text-016"/>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13-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487680" y="31496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BIAS &amp; SOCIAL IMPACT</a:t>
            </a:r>
            <a:endParaRPr lang="vi-VN" sz="2700" dirty="0"/>
          </a:p>
        </p:txBody>
      </p:sp>
      <p:sp>
        <p:nvSpPr>
          <p:cNvPr id="4" name="editable-text-002"/>
          <p:cNvSpPr/>
          <p:nvPr/>
        </p:nvSpPr>
        <p:spPr>
          <a:xfrm>
            <a:off x="8527415" y="33528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9967277" y="56896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487680" y="1361440"/>
            <a:ext cx="2682557" cy="406400"/>
          </a:xfrm>
          <a:prstGeom prst="rect">
            <a:avLst/>
          </a:prstGeom>
          <a:noFill/>
          <a:ln/>
        </p:spPr>
        <p:txBody>
          <a:bodyPr wrap="none" lIns="0" tIns="0" rIns="0" bIns="0" rtlCol="0" anchor="t"/>
          <a:lstStyle/>
          <a:p>
            <a:pPr algn="l" indent="0" marL="0">
              <a:buNone/>
            </a:pPr>
            <a:r>
              <a:rPr lang="vi-VN" altLang="en-US" sz="1800" b="1" dirty="0">
                <a:solidFill>
                  <a:srgbClr val="1E40AF"/>
                </a:solidFill>
                <a:latin typeface="Times New Roman" pitchFamily="34" charset="0"/>
                <a:ea typeface="Times New Roman" pitchFamily="34" charset="-122"/>
                <a:cs typeface="Times New Roman" pitchFamily="34" charset="-120"/>
              </a:rPr>
              <a:t>Thiên lệch địa lý (Bias)</a:t>
            </a:r>
            <a:endParaRPr lang="vi-VN" sz="1800" dirty="0"/>
          </a:p>
        </p:txBody>
      </p:sp>
      <p:sp>
        <p:nvSpPr>
          <p:cNvPr id="7" name="editable-text-005"/>
          <p:cNvSpPr/>
          <p:nvPr/>
        </p:nvSpPr>
        <p:spPr>
          <a:xfrm>
            <a:off x="3642360" y="2184400"/>
            <a:ext cx="1615440" cy="294640"/>
          </a:xfrm>
          <a:prstGeom prst="rect">
            <a:avLst/>
          </a:prstGeom>
          <a:noFill/>
          <a:ln/>
        </p:spPr>
        <p:txBody>
          <a:bodyPr wrap="none" lIns="0" tIns="0" rIns="0" bIns="0" rtlCol="0" anchor="t"/>
          <a:lstStyle/>
          <a:p>
            <a:pPr algn="ctr" indent="0" marL="0">
              <a:buNone/>
            </a:pPr>
            <a:r>
              <a:rPr lang="vi-VN" altLang="en-US" sz="975" b="1" dirty="0">
                <a:solidFill>
                  <a:srgbClr val="1E40AF"/>
                </a:solidFill>
                <a:latin typeface="Times New Roman" pitchFamily="34" charset="0"/>
                <a:ea typeface="Times New Roman" pitchFamily="34" charset="-122"/>
                <a:cs typeface="Times New Roman" pitchFamily="34" charset="-120"/>
              </a:rPr>
              <a:t>Chú giải độ phủ dữ liệu</a:t>
            </a:r>
            <a:endParaRPr lang="vi-VN" sz="975" dirty="0"/>
          </a:p>
        </p:txBody>
      </p:sp>
      <p:sp>
        <p:nvSpPr>
          <p:cNvPr id="8" name="editable-text-006"/>
          <p:cNvSpPr/>
          <p:nvPr/>
        </p:nvSpPr>
        <p:spPr>
          <a:xfrm>
            <a:off x="3627120" y="2616200"/>
            <a:ext cx="511969" cy="294640"/>
          </a:xfrm>
          <a:prstGeom prst="rect">
            <a:avLst/>
          </a:prstGeom>
          <a:noFill/>
          <a:ln/>
        </p:spPr>
        <p:txBody>
          <a:bodyPr wrap="none" lIns="0" tIns="0" rIns="0" bIns="0" rtlCol="0" anchor="t"/>
          <a:lstStyle/>
          <a:p>
            <a:pPr algn="l" indent="0" marL="0">
              <a:buNone/>
            </a:pPr>
            <a:r>
              <a:rPr lang="vi-VN" altLang="en-US" sz="975" b="1" dirty="0">
                <a:solidFill>
                  <a:srgbClr val="1F2937"/>
                </a:solidFill>
                <a:latin typeface="Times New Roman" pitchFamily="34" charset="0"/>
                <a:ea typeface="Times New Roman" pitchFamily="34" charset="-122"/>
                <a:cs typeface="Times New Roman" pitchFamily="34" charset="-120"/>
              </a:rPr>
              <a:t>Cao</a:t>
            </a:r>
            <a:endParaRPr lang="vi-VN" sz="975" dirty="0"/>
          </a:p>
        </p:txBody>
      </p:sp>
      <p:sp>
        <p:nvSpPr>
          <p:cNvPr id="9" name="editable-text-007"/>
          <p:cNvSpPr/>
          <p:nvPr/>
        </p:nvSpPr>
        <p:spPr>
          <a:xfrm>
            <a:off x="3627120" y="2821940"/>
            <a:ext cx="578644" cy="264160"/>
          </a:xfrm>
          <a:prstGeom prst="rect">
            <a:avLst/>
          </a:prstGeom>
          <a:noFill/>
          <a:ln/>
        </p:spPr>
        <p:txBody>
          <a:bodyPr wrap="none" lIns="0" tIns="0" rIns="0" bIns="0" rtlCol="0" anchor="t"/>
          <a:lstStyle/>
          <a:p>
            <a:pPr algn="l" indent="0" marL="0">
              <a:buNone/>
            </a:pPr>
            <a:r>
              <a:rPr lang="vi-VN" altLang="en-US" sz="825" dirty="0">
                <a:solidFill>
                  <a:srgbClr val="6B7280"/>
                </a:solidFill>
                <a:latin typeface="Times New Roman" pitchFamily="34" charset="0"/>
                <a:ea typeface="Times New Roman" pitchFamily="34" charset="-122"/>
                <a:cs typeface="Times New Roman" pitchFamily="34" charset="-120"/>
              </a:rPr>
              <a:t>≥ 90%</a:t>
            </a:r>
            <a:endParaRPr lang="vi-VN" sz="825" dirty="0"/>
          </a:p>
        </p:txBody>
      </p:sp>
      <p:sp>
        <p:nvSpPr>
          <p:cNvPr id="10" name="editable-text-008"/>
          <p:cNvSpPr/>
          <p:nvPr/>
        </p:nvSpPr>
        <p:spPr>
          <a:xfrm>
            <a:off x="3627120" y="3131820"/>
            <a:ext cx="924560" cy="294640"/>
          </a:xfrm>
          <a:prstGeom prst="rect">
            <a:avLst/>
          </a:prstGeom>
          <a:noFill/>
          <a:ln/>
        </p:spPr>
        <p:txBody>
          <a:bodyPr wrap="none" lIns="0" tIns="0" rIns="0" bIns="0" rtlCol="0" anchor="t"/>
          <a:lstStyle/>
          <a:p>
            <a:pPr algn="l" indent="0" marL="0">
              <a:buNone/>
            </a:pPr>
            <a:r>
              <a:rPr lang="vi-VN" altLang="en-US" sz="975" b="1" dirty="0">
                <a:solidFill>
                  <a:srgbClr val="1F2937"/>
                </a:solidFill>
                <a:latin typeface="Times New Roman" pitchFamily="34" charset="0"/>
                <a:ea typeface="Times New Roman" pitchFamily="34" charset="-122"/>
                <a:cs typeface="Times New Roman" pitchFamily="34" charset="-120"/>
              </a:rPr>
              <a:t>Trung bình</a:t>
            </a:r>
            <a:endParaRPr lang="vi-VN" sz="975" dirty="0"/>
          </a:p>
        </p:txBody>
      </p:sp>
      <p:sp>
        <p:nvSpPr>
          <p:cNvPr id="11" name="editable-text-009"/>
          <p:cNvSpPr/>
          <p:nvPr/>
        </p:nvSpPr>
        <p:spPr>
          <a:xfrm>
            <a:off x="3627120" y="3337560"/>
            <a:ext cx="805974" cy="264160"/>
          </a:xfrm>
          <a:prstGeom prst="rect">
            <a:avLst/>
          </a:prstGeom>
          <a:noFill/>
          <a:ln/>
        </p:spPr>
        <p:txBody>
          <a:bodyPr wrap="none" lIns="0" tIns="0" rIns="0" bIns="0" rtlCol="0" anchor="t"/>
          <a:lstStyle/>
          <a:p>
            <a:pPr algn="l" indent="0" marL="0">
              <a:buNone/>
            </a:pPr>
            <a:r>
              <a:rPr lang="vi-VN" altLang="en-US" sz="825" dirty="0">
                <a:solidFill>
                  <a:srgbClr val="6B7280"/>
                </a:solidFill>
                <a:latin typeface="Times New Roman" pitchFamily="34" charset="0"/>
                <a:ea typeface="Times New Roman" pitchFamily="34" charset="-122"/>
                <a:cs typeface="Times New Roman" pitchFamily="34" charset="-120"/>
              </a:rPr>
              <a:t>70% – 89%</a:t>
            </a:r>
            <a:endParaRPr lang="vi-VN" sz="825" dirty="0"/>
          </a:p>
        </p:txBody>
      </p:sp>
      <p:sp>
        <p:nvSpPr>
          <p:cNvPr id="12" name="editable-text-010"/>
          <p:cNvSpPr/>
          <p:nvPr/>
        </p:nvSpPr>
        <p:spPr>
          <a:xfrm>
            <a:off x="3627120" y="3647440"/>
            <a:ext cx="585629" cy="294640"/>
          </a:xfrm>
          <a:prstGeom prst="rect">
            <a:avLst/>
          </a:prstGeom>
          <a:noFill/>
          <a:ln/>
        </p:spPr>
        <p:txBody>
          <a:bodyPr wrap="none" lIns="0" tIns="0" rIns="0" bIns="0" rtlCol="0" anchor="t"/>
          <a:lstStyle/>
          <a:p>
            <a:pPr algn="l" indent="0" marL="0">
              <a:buNone/>
            </a:pPr>
            <a:r>
              <a:rPr lang="vi-VN" altLang="en-US" sz="975" b="1" dirty="0">
                <a:solidFill>
                  <a:srgbClr val="1F2937"/>
                </a:solidFill>
                <a:latin typeface="Times New Roman" pitchFamily="34" charset="0"/>
                <a:ea typeface="Times New Roman" pitchFamily="34" charset="-122"/>
                <a:cs typeface="Times New Roman" pitchFamily="34" charset="-120"/>
              </a:rPr>
              <a:t>Thấp</a:t>
            </a:r>
            <a:endParaRPr lang="vi-VN" sz="975" dirty="0"/>
          </a:p>
        </p:txBody>
      </p:sp>
      <p:sp>
        <p:nvSpPr>
          <p:cNvPr id="13" name="editable-text-011"/>
          <p:cNvSpPr/>
          <p:nvPr/>
        </p:nvSpPr>
        <p:spPr>
          <a:xfrm>
            <a:off x="3627120" y="3853180"/>
            <a:ext cx="580390" cy="264160"/>
          </a:xfrm>
          <a:prstGeom prst="rect">
            <a:avLst/>
          </a:prstGeom>
          <a:noFill/>
          <a:ln/>
        </p:spPr>
        <p:txBody>
          <a:bodyPr wrap="none" lIns="0" tIns="0" rIns="0" bIns="0" rtlCol="0" anchor="t"/>
          <a:lstStyle/>
          <a:p>
            <a:pPr algn="l" indent="0" marL="0">
              <a:buNone/>
            </a:pPr>
            <a:r>
              <a:rPr lang="vi-VN" altLang="en-US" sz="825" dirty="0">
                <a:solidFill>
                  <a:srgbClr val="6B7280"/>
                </a:solidFill>
                <a:latin typeface="Times New Roman" pitchFamily="34" charset="0"/>
                <a:ea typeface="Times New Roman" pitchFamily="34" charset="-122"/>
                <a:cs typeface="Times New Roman" pitchFamily="34" charset="-120"/>
              </a:rPr>
              <a:t>&lt; 70%</a:t>
            </a:r>
            <a:endParaRPr lang="vi-VN" sz="825" dirty="0"/>
          </a:p>
        </p:txBody>
      </p:sp>
      <p:sp>
        <p:nvSpPr>
          <p:cNvPr id="14" name="editable-text-012"/>
          <p:cNvSpPr/>
          <p:nvPr/>
        </p:nvSpPr>
        <p:spPr>
          <a:xfrm>
            <a:off x="3667760" y="4589780"/>
            <a:ext cx="1930400" cy="427672"/>
          </a:xfrm>
          <a:prstGeom prst="rect">
            <a:avLst/>
          </a:prstGeom>
          <a:noFill/>
          <a:ln/>
        </p:spPr>
        <p:txBody>
          <a:bodyPr wrap="square" lIns="0" tIns="0" rIns="0" bIns="0" rtlCol="0" anchor="t"/>
          <a:lstStyle/>
          <a:p>
            <a:pPr algn="just" indent="0" marL="0">
              <a:buNone/>
            </a:pPr>
            <a:r>
              <a:rPr lang="vi-VN" altLang="en-US" sz="863" dirty="0">
                <a:solidFill>
                  <a:srgbClr val="1F2937"/>
                </a:solidFill>
                <a:latin typeface="Times New Roman" pitchFamily="34" charset="0"/>
                <a:ea typeface="Times New Roman" pitchFamily="34" charset="-122"/>
                <a:cs typeface="Times New Roman" pitchFamily="34" charset="-120"/>
              </a:rPr>
              <a:t>Đắk Nông có độ phủ thấp nên hệ thống luôn hiển thị</a:t>
            </a:r>
            <a:endParaRPr lang="vi-VN" sz="863" dirty="0"/>
          </a:p>
        </p:txBody>
      </p:sp>
      <p:sp>
        <p:nvSpPr>
          <p:cNvPr id="15" name="editable-text-013"/>
          <p:cNvSpPr/>
          <p:nvPr/>
        </p:nvSpPr>
        <p:spPr>
          <a:xfrm>
            <a:off x="3667760" y="4753292"/>
            <a:ext cx="1930400" cy="427672"/>
          </a:xfrm>
          <a:prstGeom prst="rect">
            <a:avLst/>
          </a:prstGeom>
          <a:noFill/>
          <a:ln/>
        </p:spPr>
        <p:txBody>
          <a:bodyPr wrap="none" lIns="0" tIns="0" rIns="0" bIns="0" rtlCol="0" anchor="t"/>
          <a:lstStyle/>
          <a:p>
            <a:pPr algn="just" indent="0" marL="0">
              <a:buNone/>
            </a:pPr>
            <a:r>
              <a:rPr lang="vi-VN" altLang="en-US" sz="863" b="1" dirty="0">
                <a:solidFill>
                  <a:srgbClr val="EA580C"/>
                </a:solidFill>
                <a:latin typeface="Times New Roman" pitchFamily="34" charset="0"/>
                <a:ea typeface="Times New Roman" pitchFamily="34" charset="-122"/>
                <a:cs typeface="Times New Roman" pitchFamily="34" charset="-120"/>
              </a:rPr>
              <a:t>cảnh báo độ tin cậy thấp</a:t>
            </a:r>
            <a:endParaRPr lang="vi-VN" sz="863" dirty="0"/>
          </a:p>
        </p:txBody>
      </p:sp>
      <p:sp>
        <p:nvSpPr>
          <p:cNvPr id="16" name="editable-text-014"/>
          <p:cNvSpPr/>
          <p:nvPr/>
        </p:nvSpPr>
        <p:spPr>
          <a:xfrm>
            <a:off x="4258627" y="4916805"/>
            <a:ext cx="1057434" cy="264160"/>
          </a:xfrm>
          <a:prstGeom prst="rect">
            <a:avLst/>
          </a:prstGeom>
          <a:noFill/>
          <a:ln/>
        </p:spPr>
        <p:txBody>
          <a:bodyPr wrap="none" lIns="0" tIns="0" rIns="0" bIns="0" rtlCol="0" anchor="t"/>
          <a:lstStyle/>
          <a:p>
            <a:pPr algn="just" indent="0" marL="0">
              <a:buNone/>
            </a:pPr>
            <a:r>
              <a:rPr lang="vi-VN" altLang="en-US" sz="863" dirty="0">
                <a:solidFill>
                  <a:srgbClr val="1F2937"/>
                </a:solidFill>
                <a:latin typeface="Times New Roman" pitchFamily="34" charset="0"/>
                <a:ea typeface="Times New Roman" pitchFamily="34" charset="-122"/>
                <a:cs typeface="Times New Roman" pitchFamily="34" charset="-120"/>
              </a:rPr>
              <a:t>tại khu vực này.</a:t>
            </a:r>
            <a:endParaRPr lang="vi-VN" sz="863" dirty="0"/>
          </a:p>
        </p:txBody>
      </p:sp>
      <p:sp>
        <p:nvSpPr>
          <p:cNvPr id="17" name="editable-text-015"/>
          <p:cNvSpPr/>
          <p:nvPr/>
        </p:nvSpPr>
        <p:spPr>
          <a:xfrm>
            <a:off x="7304881" y="1361440"/>
            <a:ext cx="3596799" cy="406400"/>
          </a:xfrm>
          <a:prstGeom prst="rect">
            <a:avLst/>
          </a:prstGeom>
          <a:noFill/>
          <a:ln/>
        </p:spPr>
        <p:txBody>
          <a:bodyPr wrap="none" lIns="0" tIns="0" rIns="0" bIns="0" rtlCol="0" anchor="t"/>
          <a:lstStyle/>
          <a:p>
            <a:pPr algn="ctr" indent="0" marL="0">
              <a:buNone/>
            </a:pPr>
            <a:r>
              <a:rPr lang="vi-VN" altLang="en-US" sz="1800" b="1" dirty="0">
                <a:solidFill>
                  <a:srgbClr val="15803D"/>
                </a:solidFill>
                <a:latin typeface="Times New Roman" pitchFamily="34" charset="0"/>
                <a:ea typeface="Times New Roman" pitchFamily="34" charset="-122"/>
                <a:cs typeface="Times New Roman" pitchFamily="34" charset="-120"/>
              </a:rPr>
              <a:t>Tác động xã hội (Social Impact)</a:t>
            </a:r>
            <a:endParaRPr lang="vi-VN" sz="1800" dirty="0"/>
          </a:p>
        </p:txBody>
      </p:sp>
      <p:sp>
        <p:nvSpPr>
          <p:cNvPr id="18" name="editable-text-016"/>
          <p:cNvSpPr/>
          <p:nvPr/>
        </p:nvSpPr>
        <p:spPr>
          <a:xfrm>
            <a:off x="7265416" y="2488540"/>
            <a:ext cx="810860" cy="261112"/>
          </a:xfrm>
          <a:prstGeom prst="rect">
            <a:avLst/>
          </a:prstGeom>
          <a:noFill/>
          <a:ln/>
        </p:spPr>
        <p:txBody>
          <a:bodyPr wrap="none" lIns="0" tIns="0" rIns="0" bIns="0" rtlCol="0" anchor="t"/>
          <a:lstStyle/>
          <a:p>
            <a:pPr algn="l" indent="0" marL="0">
              <a:buNone/>
            </a:pPr>
            <a:r>
              <a:rPr lang="vi-VN" altLang="en-US" sz="975" b="1" dirty="0">
                <a:solidFill>
                  <a:srgbClr val="1E3A8A"/>
                </a:solidFill>
                <a:latin typeface="Times New Roman" pitchFamily="34" charset="0"/>
                <a:ea typeface="Times New Roman" pitchFamily="34" charset="-122"/>
                <a:cs typeface="Times New Roman" pitchFamily="34" charset="-120"/>
              </a:rPr>
              <a:t>Mobile-first</a:t>
            </a:r>
            <a:endParaRPr lang="vi-VN" sz="975" dirty="0"/>
          </a:p>
        </p:txBody>
      </p:sp>
      <p:sp>
        <p:nvSpPr>
          <p:cNvPr id="19" name="editable-text-017"/>
          <p:cNvSpPr/>
          <p:nvPr/>
        </p:nvSpPr>
        <p:spPr>
          <a:xfrm>
            <a:off x="7011822" y="2732227"/>
            <a:ext cx="1090704" cy="237338"/>
          </a:xfrm>
          <a:prstGeom prst="rect">
            <a:avLst/>
          </a:prstGeom>
          <a:noFill/>
          <a:ln/>
        </p:spPr>
        <p:txBody>
          <a:bodyPr wrap="none" lIns="0" tIns="0" rIns="0" bIns="0" rtlCol="0" anchor="t"/>
          <a:lstStyle/>
          <a:p>
            <a:pPr algn="l" indent="0" marL="0">
              <a:buNone/>
            </a:pPr>
            <a:r>
              <a:rPr lang="vi-VN" altLang="en-US" sz="863" dirty="0">
                <a:solidFill>
                  <a:srgbClr val="374151"/>
                </a:solidFill>
                <a:latin typeface="Times New Roman" pitchFamily="34" charset="0"/>
                <a:ea typeface="Times New Roman" pitchFamily="34" charset="-122"/>
                <a:cs typeface="Times New Roman" pitchFamily="34" charset="-120"/>
              </a:rPr>
              <a:t>Tối ưu cho điện thoại.</a:t>
            </a:r>
            <a:endParaRPr lang="vi-VN" sz="863" dirty="0"/>
          </a:p>
        </p:txBody>
      </p:sp>
      <p:sp>
        <p:nvSpPr>
          <p:cNvPr id="20" name="editable-text-018"/>
          <p:cNvSpPr/>
          <p:nvPr/>
        </p:nvSpPr>
        <p:spPr>
          <a:xfrm>
            <a:off x="7265416" y="4010101"/>
            <a:ext cx="885403" cy="261112"/>
          </a:xfrm>
          <a:prstGeom prst="rect">
            <a:avLst/>
          </a:prstGeom>
          <a:noFill/>
          <a:ln/>
        </p:spPr>
        <p:txBody>
          <a:bodyPr wrap="none" lIns="0" tIns="0" rIns="0" bIns="0" rtlCol="0" anchor="t"/>
          <a:lstStyle/>
          <a:p>
            <a:pPr algn="l" indent="0" marL="0">
              <a:buNone/>
            </a:pPr>
            <a:r>
              <a:rPr lang="vi-VN" altLang="en-US" sz="975" b="1" dirty="0">
                <a:solidFill>
                  <a:srgbClr val="1E3A8A"/>
                </a:solidFill>
                <a:latin typeface="Times New Roman" pitchFamily="34" charset="0"/>
                <a:ea typeface="Times New Roman" pitchFamily="34" charset="-122"/>
                <a:cs typeface="Times New Roman" pitchFamily="34" charset="-120"/>
              </a:rPr>
              <a:t>Nút chạm lớn</a:t>
            </a:r>
            <a:endParaRPr lang="vi-VN" sz="975" dirty="0"/>
          </a:p>
        </p:txBody>
      </p:sp>
      <p:sp>
        <p:nvSpPr>
          <p:cNvPr id="21" name="editable-text-019"/>
          <p:cNvSpPr/>
          <p:nvPr/>
        </p:nvSpPr>
        <p:spPr>
          <a:xfrm>
            <a:off x="7011822" y="4253789"/>
            <a:ext cx="1265174" cy="237337"/>
          </a:xfrm>
          <a:prstGeom prst="rect">
            <a:avLst/>
          </a:prstGeom>
          <a:noFill/>
          <a:ln/>
        </p:spPr>
        <p:txBody>
          <a:bodyPr wrap="none" lIns="0" tIns="0" rIns="0" bIns="0" rtlCol="0" anchor="t"/>
          <a:lstStyle/>
          <a:p>
            <a:pPr algn="l" indent="0" marL="0">
              <a:buNone/>
            </a:pPr>
            <a:r>
              <a:rPr lang="vi-VN" altLang="en-US" sz="863" dirty="0">
                <a:solidFill>
                  <a:srgbClr val="374151"/>
                </a:solidFill>
                <a:latin typeface="Times New Roman" pitchFamily="34" charset="0"/>
                <a:ea typeface="Times New Roman" pitchFamily="34" charset="-122"/>
                <a:cs typeface="Times New Roman" pitchFamily="34" charset="-120"/>
              </a:rPr>
              <a:t>Dễ thao tác ngoài thực địa.</a:t>
            </a:r>
            <a:endParaRPr lang="vi-VN" sz="863" dirty="0"/>
          </a:p>
        </p:txBody>
      </p:sp>
      <p:sp>
        <p:nvSpPr>
          <p:cNvPr id="22" name="editable-text-020"/>
          <p:cNvSpPr/>
          <p:nvPr/>
        </p:nvSpPr>
        <p:spPr>
          <a:xfrm>
            <a:off x="10625532" y="2742133"/>
            <a:ext cx="947315" cy="261112"/>
          </a:xfrm>
          <a:prstGeom prst="rect">
            <a:avLst/>
          </a:prstGeom>
          <a:noFill/>
          <a:ln/>
        </p:spPr>
        <p:txBody>
          <a:bodyPr wrap="none" lIns="0" tIns="0" rIns="0" bIns="0" rtlCol="0" anchor="t"/>
          <a:lstStyle/>
          <a:p>
            <a:pPr algn="l" indent="0" marL="0">
              <a:buNone/>
            </a:pPr>
            <a:r>
              <a:rPr lang="vi-VN" altLang="en-US" sz="975" b="1" dirty="0">
                <a:solidFill>
                  <a:srgbClr val="000000"/>
                </a:solidFill>
                <a:latin typeface="Times New Roman" pitchFamily="34" charset="0"/>
                <a:ea typeface="Times New Roman" pitchFamily="34" charset="-122"/>
                <a:cs typeface="Times New Roman" pitchFamily="34" charset="-120"/>
              </a:rPr>
              <a:t>Lịch sử Offline</a:t>
            </a:r>
            <a:endParaRPr lang="vi-VN" sz="975" dirty="0"/>
          </a:p>
        </p:txBody>
      </p:sp>
      <p:sp>
        <p:nvSpPr>
          <p:cNvPr id="23" name="editable-text-021"/>
          <p:cNvSpPr/>
          <p:nvPr/>
        </p:nvSpPr>
        <p:spPr>
          <a:xfrm>
            <a:off x="10371937" y="2985821"/>
            <a:ext cx="1090581" cy="237337"/>
          </a:xfrm>
          <a:prstGeom prst="rect">
            <a:avLst/>
          </a:prstGeom>
          <a:noFill/>
          <a:ln/>
        </p:spPr>
        <p:txBody>
          <a:bodyPr wrap="none" lIns="0" tIns="0" rIns="0" bIns="0" rtlCol="0" anchor="t"/>
          <a:lstStyle/>
          <a:p>
            <a:pPr algn="l" indent="0" marL="0">
              <a:buNone/>
            </a:pPr>
            <a:r>
              <a:rPr lang="vi-VN" altLang="en-US" sz="863" dirty="0">
                <a:solidFill>
                  <a:srgbClr val="374151"/>
                </a:solidFill>
                <a:latin typeface="Times New Roman" pitchFamily="34" charset="0"/>
                <a:ea typeface="Times New Roman" pitchFamily="34" charset="-122"/>
                <a:cs typeface="Times New Roman" pitchFamily="34" charset="-120"/>
              </a:rPr>
              <a:t>Lưu qua localStorage.</a:t>
            </a:r>
            <a:endParaRPr lang="vi-VN" sz="863" dirty="0"/>
          </a:p>
        </p:txBody>
      </p:sp>
      <p:sp>
        <p:nvSpPr>
          <p:cNvPr id="24" name="editable-text-022"/>
          <p:cNvSpPr/>
          <p:nvPr/>
        </p:nvSpPr>
        <p:spPr>
          <a:xfrm>
            <a:off x="10625532" y="4263695"/>
            <a:ext cx="759348" cy="261112"/>
          </a:xfrm>
          <a:prstGeom prst="rect">
            <a:avLst/>
          </a:prstGeom>
          <a:noFill/>
          <a:ln/>
        </p:spPr>
        <p:txBody>
          <a:bodyPr wrap="none" lIns="0" tIns="0" rIns="0" bIns="0" rtlCol="0" anchor="t"/>
          <a:lstStyle/>
          <a:p>
            <a:pPr algn="l" indent="0" marL="0">
              <a:buNone/>
            </a:pPr>
            <a:r>
              <a:rPr lang="vi-VN" altLang="en-US" sz="975" b="1" dirty="0">
                <a:solidFill>
                  <a:srgbClr val="000000"/>
                </a:solidFill>
                <a:latin typeface="Times New Roman" pitchFamily="34" charset="0"/>
                <a:ea typeface="Times New Roman" pitchFamily="34" charset="-122"/>
                <a:cs typeface="Times New Roman" pitchFamily="34" charset="-120"/>
              </a:rPr>
              <a:t>Disclaimer</a:t>
            </a:r>
            <a:endParaRPr lang="vi-VN" sz="975" dirty="0"/>
          </a:p>
        </p:txBody>
      </p:sp>
      <p:sp>
        <p:nvSpPr>
          <p:cNvPr id="25" name="editable-text-023"/>
          <p:cNvSpPr/>
          <p:nvPr/>
        </p:nvSpPr>
        <p:spPr>
          <a:xfrm>
            <a:off x="10371937" y="4507382"/>
            <a:ext cx="1312103" cy="362649"/>
          </a:xfrm>
          <a:prstGeom prst="rect">
            <a:avLst/>
          </a:prstGeom>
          <a:noFill/>
          <a:ln/>
        </p:spPr>
        <p:txBody>
          <a:bodyPr wrap="square" lIns="0" tIns="0" rIns="0" bIns="0" rtlCol="0" anchor="t"/>
          <a:lstStyle/>
          <a:p>
            <a:pPr algn="l" indent="0" marL="0">
              <a:buNone/>
            </a:pPr>
            <a:r>
              <a:rPr lang="vi-VN" altLang="en-US" sz="863" dirty="0">
                <a:solidFill>
                  <a:srgbClr val="374151"/>
                </a:solidFill>
                <a:latin typeface="Times New Roman" pitchFamily="34" charset="0"/>
                <a:ea typeface="Times New Roman" pitchFamily="34" charset="-122"/>
                <a:cs typeface="Times New Roman" pitchFamily="34" charset="-120"/>
              </a:rPr>
              <a:t>Luôn hiển thị để giảm rủi ro quyết định sai.</a:t>
            </a:r>
            <a:endParaRPr lang="vi-VN" sz="863" dirty="0"/>
          </a:p>
        </p:txBody>
      </p:sp>
      <p:sp>
        <p:nvSpPr>
          <p:cNvPr id="26" name="editable-text-024"/>
          <p:cNvSpPr/>
          <p:nvPr/>
        </p:nvSpPr>
        <p:spPr>
          <a:xfrm>
            <a:off x="8582419" y="2177491"/>
            <a:ext cx="1076093" cy="261112"/>
          </a:xfrm>
          <a:prstGeom prst="rect">
            <a:avLst/>
          </a:prstGeom>
          <a:noFill/>
          <a:ln/>
        </p:spPr>
        <p:txBody>
          <a:bodyPr wrap="none" lIns="0" tIns="0" rIns="0" bIns="0" rtlCol="0" anchor="t"/>
          <a:lstStyle/>
          <a:p>
            <a:pPr algn="l" indent="0" marL="0">
              <a:buNone/>
            </a:pPr>
            <a:r>
              <a:rPr lang="vi-VN" altLang="en-US" sz="975" b="1" dirty="0">
                <a:solidFill>
                  <a:srgbClr val="1F2937"/>
                </a:solidFill>
                <a:latin typeface="Times New Roman" pitchFamily="34" charset="0"/>
                <a:ea typeface="Times New Roman" pitchFamily="34" charset="-122"/>
                <a:cs typeface="Times New Roman" pitchFamily="34" charset="-120"/>
              </a:rPr>
              <a:t>AI Trợ Lý Cà Phê</a:t>
            </a:r>
            <a:endParaRPr lang="vi-VN" sz="975" dirty="0"/>
          </a:p>
        </p:txBody>
      </p:sp>
      <p:sp>
        <p:nvSpPr>
          <p:cNvPr id="27" name="editable-text-025"/>
          <p:cNvSpPr/>
          <p:nvPr/>
        </p:nvSpPr>
        <p:spPr>
          <a:xfrm>
            <a:off x="8382813" y="2450897"/>
            <a:ext cx="1597025" cy="316586"/>
          </a:xfrm>
          <a:prstGeom prst="rect">
            <a:avLst/>
          </a:prstGeom>
          <a:noFill/>
          <a:ln/>
        </p:spPr>
        <p:txBody>
          <a:bodyPr wrap="none" lIns="0" tIns="0" rIns="0" bIns="0" rtlCol="0" anchor="t"/>
          <a:lstStyle/>
          <a:p>
            <a:pPr algn="l" indent="0" marL="0">
              <a:buNone/>
            </a:pPr>
            <a:r>
              <a:rPr lang="vi-VN" altLang="en-US" sz="1500" b="1" dirty="0">
                <a:solidFill>
                  <a:srgbClr val="000000"/>
                </a:solidFill>
                <a:latin typeface="Times New Roman" pitchFamily="34" charset="0"/>
                <a:ea typeface="Times New Roman" pitchFamily="34" charset="-122"/>
                <a:cs typeface="Times New Roman" pitchFamily="34" charset="-120"/>
              </a:rPr>
              <a:t>Xin chào nhà nông,</a:t>
            </a:r>
            <a:endParaRPr lang="vi-VN" sz="1500" dirty="0"/>
          </a:p>
        </p:txBody>
      </p:sp>
      <p:sp>
        <p:nvSpPr>
          <p:cNvPr id="28" name="editable-text-026"/>
          <p:cNvSpPr/>
          <p:nvPr/>
        </p:nvSpPr>
        <p:spPr>
          <a:xfrm>
            <a:off x="8382813" y="2672791"/>
            <a:ext cx="1343555" cy="253187"/>
          </a:xfrm>
          <a:prstGeom prst="rect">
            <a:avLst/>
          </a:prstGeom>
          <a:noFill/>
          <a:ln/>
        </p:spPr>
        <p:txBody>
          <a:bodyPr wrap="none" lIns="0" tIns="0" rIns="0" bIns="0" rtlCol="0" anchor="t"/>
          <a:lstStyle/>
          <a:p>
            <a:pPr algn="l" indent="0" marL="0">
              <a:buNone/>
            </a:pPr>
            <a:r>
              <a:rPr lang="vi-VN" altLang="en-US" sz="900" dirty="0">
                <a:solidFill>
                  <a:srgbClr val="4B5563"/>
                </a:solidFill>
                <a:latin typeface="Times New Roman" pitchFamily="34" charset="0"/>
                <a:ea typeface="Times New Roman" pitchFamily="34" charset="-122"/>
                <a:cs typeface="Times New Roman" pitchFamily="34" charset="-120"/>
              </a:rPr>
              <a:t>Hôm nay bạn muốn làm gì?</a:t>
            </a:r>
            <a:endParaRPr lang="vi-VN" sz="900" dirty="0"/>
          </a:p>
        </p:txBody>
      </p:sp>
      <p:sp>
        <p:nvSpPr>
          <p:cNvPr id="29" name="editable-text-027"/>
          <p:cNvSpPr/>
          <p:nvPr/>
        </p:nvSpPr>
        <p:spPr>
          <a:xfrm>
            <a:off x="8454136" y="3465271"/>
            <a:ext cx="1267279" cy="269037"/>
          </a:xfrm>
          <a:prstGeom prst="rect">
            <a:avLst/>
          </a:prstGeom>
          <a:noFill/>
          <a:ln/>
        </p:spPr>
        <p:txBody>
          <a:bodyPr wrap="none" lIns="0" tIns="0" rIns="0" bIns="0" rtlCol="0" anchor="t"/>
          <a:lstStyle/>
          <a:p>
            <a:pPr algn="l" indent="0" marL="0">
              <a:buNone/>
            </a:pPr>
            <a:r>
              <a:rPr lang="vi-VN" altLang="en-US" sz="1125" b="1" dirty="0">
                <a:solidFill>
                  <a:srgbClr val="000000"/>
                </a:solidFill>
                <a:latin typeface="Times New Roman" pitchFamily="34" charset="0"/>
                <a:ea typeface="Times New Roman" pitchFamily="34" charset="-122"/>
                <a:cs typeface="Times New Roman" pitchFamily="34" charset="-120"/>
              </a:rPr>
              <a:t>Dự báo Giá Cà Phê</a:t>
            </a:r>
            <a:endParaRPr lang="vi-VN" sz="1125" dirty="0"/>
          </a:p>
        </p:txBody>
      </p:sp>
      <p:sp>
        <p:nvSpPr>
          <p:cNvPr id="30" name="editable-text-028"/>
          <p:cNvSpPr/>
          <p:nvPr/>
        </p:nvSpPr>
        <p:spPr>
          <a:xfrm>
            <a:off x="8454136" y="3659429"/>
            <a:ext cx="1868945" cy="354971"/>
          </a:xfrm>
          <a:prstGeom prst="rect">
            <a:avLst/>
          </a:prstGeom>
          <a:noFill/>
          <a:ln/>
        </p:spPr>
        <p:txBody>
          <a:bodyPr wrap="square" lIns="0" tIns="0" rIns="0" bIns="0" rtlCol="0" anchor="t"/>
          <a:lstStyle/>
          <a:p>
            <a:pPr algn="l" indent="0" marL="0">
              <a:buNone/>
            </a:pPr>
            <a:r>
              <a:rPr lang="vi-VN" altLang="en-US" sz="825" dirty="0">
                <a:solidFill>
                  <a:srgbClr val="4B5563"/>
                </a:solidFill>
                <a:latin typeface="Times New Roman" pitchFamily="34" charset="0"/>
                <a:ea typeface="Times New Roman" pitchFamily="34" charset="-122"/>
                <a:cs typeface="Times New Roman" pitchFamily="34" charset="-120"/>
              </a:rPr>
              <a:t>Xem dự báo giá cà phê trong các tháng tới và mức độ tin cậy.</a:t>
            </a:r>
            <a:endParaRPr lang="vi-VN" sz="825" dirty="0"/>
          </a:p>
        </p:txBody>
      </p:sp>
      <p:sp>
        <p:nvSpPr>
          <p:cNvPr id="31" name="editable-text-029"/>
          <p:cNvSpPr/>
          <p:nvPr/>
        </p:nvSpPr>
        <p:spPr>
          <a:xfrm>
            <a:off x="8454136" y="4592078"/>
            <a:ext cx="1138625" cy="269037"/>
          </a:xfrm>
          <a:prstGeom prst="rect">
            <a:avLst/>
          </a:prstGeom>
          <a:noFill/>
          <a:ln/>
        </p:spPr>
        <p:txBody>
          <a:bodyPr wrap="none" lIns="0" tIns="0" rIns="0" bIns="0" rtlCol="0" anchor="t"/>
          <a:lstStyle/>
          <a:p>
            <a:pPr algn="l" indent="0" marL="0">
              <a:buNone/>
            </a:pPr>
            <a:r>
              <a:rPr lang="vi-VN" altLang="en-US" sz="1125" b="1" dirty="0">
                <a:solidFill>
                  <a:srgbClr val="000000"/>
                </a:solidFill>
                <a:latin typeface="Times New Roman" pitchFamily="34" charset="0"/>
                <a:ea typeface="Times New Roman" pitchFamily="34" charset="-122"/>
                <a:cs typeface="Times New Roman" pitchFamily="34" charset="-120"/>
              </a:rPr>
              <a:t>Tư vấn Canh tác</a:t>
            </a:r>
            <a:endParaRPr lang="vi-VN" sz="1125" dirty="0"/>
          </a:p>
        </p:txBody>
      </p:sp>
      <p:sp>
        <p:nvSpPr>
          <p:cNvPr id="32" name="editable-text-030"/>
          <p:cNvSpPr/>
          <p:nvPr/>
        </p:nvSpPr>
        <p:spPr>
          <a:xfrm>
            <a:off x="8454136" y="4786236"/>
            <a:ext cx="1887519" cy="354971"/>
          </a:xfrm>
          <a:prstGeom prst="rect">
            <a:avLst/>
          </a:prstGeom>
          <a:noFill/>
          <a:ln/>
        </p:spPr>
        <p:txBody>
          <a:bodyPr wrap="square" lIns="0" tIns="0" rIns="0" bIns="0" rtlCol="0" anchor="t"/>
          <a:lstStyle/>
          <a:p>
            <a:pPr algn="l" indent="0" marL="0">
              <a:buNone/>
            </a:pPr>
            <a:r>
              <a:rPr lang="vi-VN" altLang="en-US" sz="825" dirty="0">
                <a:solidFill>
                  <a:srgbClr val="4B5563"/>
                </a:solidFill>
                <a:latin typeface="Times New Roman" pitchFamily="34" charset="0"/>
                <a:ea typeface="Times New Roman" pitchFamily="34" charset="-122"/>
                <a:cs typeface="Times New Roman" pitchFamily="34" charset="-120"/>
              </a:rPr>
              <a:t>Nhận lời khuyên chăm sóc vườn dựa trên thời tiết và loại đất.</a:t>
            </a:r>
            <a:endParaRPr lang="vi-VN" sz="825" dirty="0"/>
          </a:p>
        </p:txBody>
      </p:sp>
      <p:sp>
        <p:nvSpPr>
          <p:cNvPr id="33" name="editable-text-031"/>
          <p:cNvSpPr/>
          <p:nvPr/>
        </p:nvSpPr>
        <p:spPr>
          <a:xfrm>
            <a:off x="8454136" y="5718886"/>
            <a:ext cx="1064577" cy="269037"/>
          </a:xfrm>
          <a:prstGeom prst="rect">
            <a:avLst/>
          </a:prstGeom>
          <a:noFill/>
          <a:ln/>
        </p:spPr>
        <p:txBody>
          <a:bodyPr wrap="none" lIns="0" tIns="0" rIns="0" bIns="0" rtlCol="0" anchor="t"/>
          <a:lstStyle/>
          <a:p>
            <a:pPr algn="l" indent="0" marL="0">
              <a:buNone/>
            </a:pPr>
            <a:r>
              <a:rPr lang="vi-VN" altLang="en-US" sz="1125" b="1" dirty="0">
                <a:solidFill>
                  <a:srgbClr val="000000"/>
                </a:solidFill>
                <a:latin typeface="Times New Roman" pitchFamily="34" charset="0"/>
                <a:ea typeface="Times New Roman" pitchFamily="34" charset="-122"/>
                <a:cs typeface="Times New Roman" pitchFamily="34" charset="-120"/>
              </a:rPr>
              <a:t>Lịch sử Dự báo</a:t>
            </a:r>
            <a:endParaRPr lang="vi-VN" sz="1125" dirty="0"/>
          </a:p>
        </p:txBody>
      </p:sp>
      <p:sp>
        <p:nvSpPr>
          <p:cNvPr id="34" name="editable-text-032"/>
          <p:cNvSpPr/>
          <p:nvPr/>
        </p:nvSpPr>
        <p:spPr>
          <a:xfrm>
            <a:off x="8454136" y="5913044"/>
            <a:ext cx="1848513" cy="354971"/>
          </a:xfrm>
          <a:prstGeom prst="rect">
            <a:avLst/>
          </a:prstGeom>
          <a:noFill/>
          <a:ln/>
        </p:spPr>
        <p:txBody>
          <a:bodyPr wrap="square" lIns="0" tIns="0" rIns="0" bIns="0" rtlCol="0" anchor="t"/>
          <a:lstStyle/>
          <a:p>
            <a:pPr algn="l" indent="0" marL="0">
              <a:buNone/>
            </a:pPr>
            <a:r>
              <a:rPr lang="vi-VN" altLang="en-US" sz="825" dirty="0">
                <a:solidFill>
                  <a:srgbClr val="4B5563"/>
                </a:solidFill>
                <a:latin typeface="Times New Roman" pitchFamily="34" charset="0"/>
                <a:ea typeface="Times New Roman" pitchFamily="34" charset="-122"/>
                <a:cs typeface="Times New Roman" pitchFamily="34" charset="-120"/>
              </a:rPr>
              <a:t>Xem lại các dự báo và lời khuyên bạn đã lưu trước đó.</a:t>
            </a:r>
            <a:endParaRPr lang="vi-VN" sz="825" dirty="0"/>
          </a:p>
        </p:txBody>
      </p:sp>
      <p:sp>
        <p:nvSpPr>
          <p:cNvPr id="35" name="editable-text-033"/>
          <p:cNvSpPr/>
          <p:nvPr/>
        </p:nvSpPr>
        <p:spPr>
          <a:xfrm>
            <a:off x="8431723" y="6444996"/>
            <a:ext cx="1876994" cy="261112"/>
          </a:xfrm>
          <a:prstGeom prst="rect">
            <a:avLst/>
          </a:prstGeom>
          <a:noFill/>
          <a:ln/>
        </p:spPr>
        <p:txBody>
          <a:bodyPr wrap="none" lIns="0" tIns="0" rIns="0" bIns="0" rtlCol="0" anchor="t"/>
          <a:lstStyle/>
          <a:p>
            <a:pPr algn="l" indent="0" marL="0">
              <a:buNone/>
            </a:pPr>
            <a:r>
              <a:rPr lang="vi-VN" altLang="en-US" sz="1050" b="1" dirty="0">
                <a:solidFill>
                  <a:srgbClr val="1F2937"/>
                </a:solidFill>
                <a:latin typeface="Times New Roman" pitchFamily="34" charset="0"/>
                <a:ea typeface="Times New Roman" pitchFamily="34" charset="-122"/>
                <a:cs typeface="Times New Roman" pitchFamily="34" charset="-120"/>
              </a:rPr>
              <a:t>Dự báo chỉ mang tính tham khảo,</a:t>
            </a:r>
            <a:endParaRPr lang="vi-VN" sz="1050" dirty="0"/>
          </a:p>
        </p:txBody>
      </p:sp>
      <p:sp>
        <p:nvSpPr>
          <p:cNvPr id="36" name="editable-text-034"/>
          <p:cNvSpPr/>
          <p:nvPr/>
        </p:nvSpPr>
        <p:spPr>
          <a:xfrm>
            <a:off x="8431723" y="6597548"/>
            <a:ext cx="2342204" cy="261111"/>
          </a:xfrm>
          <a:prstGeom prst="rect">
            <a:avLst/>
          </a:prstGeom>
          <a:noFill/>
          <a:ln/>
        </p:spPr>
        <p:txBody>
          <a:bodyPr wrap="square" lIns="0" tIns="0" rIns="0" bIns="0" rtlCol="0" anchor="t"/>
          <a:lstStyle/>
          <a:p>
            <a:pPr algn="l" indent="0" marL="0">
              <a:buNone/>
            </a:pPr>
            <a:r>
              <a:rPr lang="vi-VN" altLang="en-US" sz="1050" b="1" dirty="0">
                <a:solidFill>
                  <a:srgbClr val="1F2937"/>
                </a:solidFill>
                <a:latin typeface="Times New Roman" pitchFamily="34" charset="0"/>
                <a:ea typeface="Times New Roman" pitchFamily="34" charset="-122"/>
                <a:cs typeface="Times New Roman" pitchFamily="34" charset="-120"/>
              </a:rPr>
              <a:t>không thay thế quyết định của người trồng.</a:t>
            </a:r>
            <a:endParaRPr lang="vi-VN" sz="1050" dirty="0"/>
          </a:p>
        </p:txBody>
      </p:sp>
      <p:sp>
        <p:nvSpPr>
          <p:cNvPr id="37" name="editable-text-035"/>
          <p:cNvSpPr/>
          <p:nvPr/>
        </p:nvSpPr>
        <p:spPr>
          <a:xfrm>
            <a:off x="11358721"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13</a:t>
            </a:r>
            <a:endParaRPr lang="vi-VN" sz="1350" dirty="0"/>
          </a:p>
        </p:txBody>
      </p:sp>
      <p:sp>
        <p:nvSpPr>
          <p:cNvPr id="38" name="editable-text-036"/>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39" name="editable-text-037"/>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14-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4008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TRANSPARENCY (TÍNH MINH BẠCH)</a:t>
            </a:r>
            <a:endParaRPr lang="vi-VN" sz="2700" dirty="0"/>
          </a:p>
        </p:txBody>
      </p:sp>
      <p:sp>
        <p:nvSpPr>
          <p:cNvPr id="4" name="editable-text-002"/>
          <p:cNvSpPr/>
          <p:nvPr/>
        </p:nvSpPr>
        <p:spPr>
          <a:xfrm>
            <a:off x="8364855" y="66040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9804717" y="89408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1697355" y="1584960"/>
            <a:ext cx="9081611" cy="477520"/>
          </a:xfrm>
          <a:prstGeom prst="rect">
            <a:avLst/>
          </a:prstGeom>
          <a:noFill/>
          <a:ln/>
        </p:spPr>
        <p:txBody>
          <a:bodyPr wrap="square" lIns="0" tIns="0" rIns="0" bIns="0" rtlCol="0" anchor="t"/>
          <a:lstStyle/>
          <a:p>
            <a:pPr algn="ctr" indent="0" marL="0">
              <a:buNone/>
            </a:pPr>
            <a:r>
              <a:rPr lang="vi-VN" altLang="en-US" sz="2250" b="1" dirty="0">
                <a:solidFill>
                  <a:srgbClr val="1E3A8A"/>
                </a:solidFill>
                <a:latin typeface="Times New Roman" pitchFamily="34" charset="0"/>
                <a:ea typeface="Times New Roman" pitchFamily="34" charset="-122"/>
                <a:cs typeface="Times New Roman" pitchFamily="34" charset="-120"/>
              </a:rPr>
              <a:t>MỨC ĐỘ ĐÓNG GÓP ĐẶC TRƯNG (FEATURE IMPORTANCE)</a:t>
            </a:r>
            <a:endParaRPr lang="vi-VN" sz="2250" dirty="0"/>
          </a:p>
        </p:txBody>
      </p:sp>
      <p:sp>
        <p:nvSpPr>
          <p:cNvPr id="7" name="editable-text-005"/>
          <p:cNvSpPr/>
          <p:nvPr/>
        </p:nvSpPr>
        <p:spPr>
          <a:xfrm>
            <a:off x="1238885" y="2743200"/>
            <a:ext cx="3109595" cy="406400"/>
          </a:xfrm>
          <a:prstGeom prst="rect">
            <a:avLst/>
          </a:prstGeom>
          <a:noFill/>
          <a:ln/>
        </p:spPr>
        <p:txBody>
          <a:bodyPr wrap="none" lIns="0" tIns="0" rIns="0" bIns="0" rtlCol="0" anchor="t"/>
          <a:lstStyle/>
          <a:p>
            <a:pPr algn="r"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Đà giá TT (rolling_avg_7d)</a:t>
            </a:r>
            <a:endParaRPr lang="vi-VN" sz="1800" dirty="0"/>
          </a:p>
        </p:txBody>
      </p:sp>
      <p:sp>
        <p:nvSpPr>
          <p:cNvPr id="8" name="editable-text-006"/>
          <p:cNvSpPr/>
          <p:nvPr/>
        </p:nvSpPr>
        <p:spPr>
          <a:xfrm>
            <a:off x="7789386" y="2743200"/>
            <a:ext cx="711200" cy="406400"/>
          </a:xfrm>
          <a:prstGeom prst="rect">
            <a:avLst/>
          </a:prstGeom>
          <a:noFill/>
          <a:ln/>
        </p:spPr>
        <p:txBody>
          <a:bodyPr wrap="none" lIns="0" tIns="0" rIns="0" bIns="0" rtlCol="0" anchor="t"/>
          <a:lstStyle/>
          <a:p>
            <a:pPr algn="l"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72.8</a:t>
            </a:r>
            <a:endParaRPr lang="vi-VN" sz="1800" dirty="0"/>
          </a:p>
        </p:txBody>
      </p:sp>
      <p:sp>
        <p:nvSpPr>
          <p:cNvPr id="9" name="editable-text-007"/>
          <p:cNvSpPr/>
          <p:nvPr/>
        </p:nvSpPr>
        <p:spPr>
          <a:xfrm>
            <a:off x="8216106" y="2743200"/>
            <a:ext cx="528320" cy="406400"/>
          </a:xfrm>
          <a:prstGeom prst="rect">
            <a:avLst/>
          </a:prstGeom>
          <a:noFill/>
          <a:ln/>
        </p:spPr>
        <p:txBody>
          <a:bodyPr wrap="none" lIns="0" tIns="0" rIns="0" bIns="0" rtlCol="0" anchor="t"/>
          <a:lstStyle/>
          <a:p>
            <a:pPr algn="l"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a:t>
            </a:r>
            <a:endParaRPr lang="vi-VN" sz="1800" dirty="0"/>
          </a:p>
        </p:txBody>
      </p:sp>
      <p:sp>
        <p:nvSpPr>
          <p:cNvPr id="10" name="editable-text-008"/>
          <p:cNvSpPr/>
          <p:nvPr/>
        </p:nvSpPr>
        <p:spPr>
          <a:xfrm>
            <a:off x="1473041" y="3799840"/>
            <a:ext cx="2875439" cy="406400"/>
          </a:xfrm>
          <a:prstGeom prst="rect">
            <a:avLst/>
          </a:prstGeom>
          <a:noFill/>
          <a:ln/>
        </p:spPr>
        <p:txBody>
          <a:bodyPr wrap="none" lIns="0" tIns="0" rIns="0" bIns="0" rtlCol="0" anchor="t"/>
          <a:lstStyle/>
          <a:p>
            <a:pPr algn="r"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Giá tháng trước (lag_1d)</a:t>
            </a:r>
            <a:endParaRPr lang="vi-VN" sz="1800" dirty="0"/>
          </a:p>
        </p:txBody>
      </p:sp>
      <p:sp>
        <p:nvSpPr>
          <p:cNvPr id="11" name="editable-text-009"/>
          <p:cNvSpPr/>
          <p:nvPr/>
        </p:nvSpPr>
        <p:spPr>
          <a:xfrm>
            <a:off x="4638675" y="3799840"/>
            <a:ext cx="711200" cy="406400"/>
          </a:xfrm>
          <a:prstGeom prst="rect">
            <a:avLst/>
          </a:prstGeom>
          <a:noFill/>
          <a:ln/>
        </p:spPr>
        <p:txBody>
          <a:bodyPr wrap="none" lIns="0" tIns="0" rIns="0" bIns="0" rtlCol="0" anchor="t"/>
          <a:lstStyle/>
          <a:p>
            <a:pPr algn="l"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22.2</a:t>
            </a:r>
            <a:endParaRPr lang="vi-VN" sz="1800" dirty="0"/>
          </a:p>
        </p:txBody>
      </p:sp>
      <p:sp>
        <p:nvSpPr>
          <p:cNvPr id="12" name="editable-text-010"/>
          <p:cNvSpPr/>
          <p:nvPr/>
        </p:nvSpPr>
        <p:spPr>
          <a:xfrm>
            <a:off x="5065395" y="3799840"/>
            <a:ext cx="528320" cy="406400"/>
          </a:xfrm>
          <a:prstGeom prst="rect">
            <a:avLst/>
          </a:prstGeom>
          <a:noFill/>
          <a:ln/>
        </p:spPr>
        <p:txBody>
          <a:bodyPr wrap="none" lIns="0" tIns="0" rIns="0" bIns="0" rtlCol="0" anchor="t"/>
          <a:lstStyle/>
          <a:p>
            <a:pPr algn="l" indent="0" marL="0">
              <a:buNone/>
            </a:pPr>
            <a:r>
              <a:rPr lang="vi-VN" altLang="en-US" sz="1800" b="1" dirty="0">
                <a:solidFill>
                  <a:srgbClr val="FFFFFF"/>
                </a:solidFill>
                <a:latin typeface="Times New Roman" pitchFamily="34" charset="0"/>
                <a:ea typeface="Times New Roman" pitchFamily="34" charset="-122"/>
                <a:cs typeface="Times New Roman" pitchFamily="34" charset="-120"/>
              </a:rPr>
              <a:t>%</a:t>
            </a:r>
            <a:endParaRPr lang="vi-VN" sz="1800" dirty="0"/>
          </a:p>
        </p:txBody>
      </p:sp>
      <p:sp>
        <p:nvSpPr>
          <p:cNvPr id="13" name="editable-text-011"/>
          <p:cNvSpPr/>
          <p:nvPr/>
        </p:nvSpPr>
        <p:spPr>
          <a:xfrm>
            <a:off x="1236186" y="4856480"/>
            <a:ext cx="3112294" cy="406400"/>
          </a:xfrm>
          <a:prstGeom prst="rect">
            <a:avLst/>
          </a:prstGeom>
          <a:noFill/>
          <a:ln/>
        </p:spPr>
        <p:txBody>
          <a:bodyPr wrap="none" lIns="0" tIns="0" rIns="0" bIns="0" rtlCol="0" anchor="t"/>
          <a:lstStyle/>
          <a:p>
            <a:pPr algn="r"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Khí hậu ngắn hạn &amp; Vĩ mô</a:t>
            </a:r>
            <a:endParaRPr lang="vi-VN" sz="1800" dirty="0"/>
          </a:p>
        </p:txBody>
      </p:sp>
      <p:sp>
        <p:nvSpPr>
          <p:cNvPr id="14" name="editable-text-012"/>
          <p:cNvSpPr/>
          <p:nvPr/>
        </p:nvSpPr>
        <p:spPr>
          <a:xfrm>
            <a:off x="4696619" y="4856480"/>
            <a:ext cx="406400" cy="406400"/>
          </a:xfrm>
          <a:prstGeom prst="rect">
            <a:avLst/>
          </a:prstGeom>
          <a:noFill/>
          <a:ln/>
        </p:spPr>
        <p:txBody>
          <a:bodyPr wrap="none" lIns="0" tIns="0" rIns="0" bIns="0" rtlCol="0" anchor="t"/>
          <a:lstStyle/>
          <a:p>
            <a:pPr algn="l"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5</a:t>
            </a:r>
            <a:endParaRPr lang="vi-VN" sz="1800" dirty="0"/>
          </a:p>
        </p:txBody>
      </p:sp>
      <p:sp>
        <p:nvSpPr>
          <p:cNvPr id="15" name="editable-text-013"/>
          <p:cNvSpPr/>
          <p:nvPr/>
        </p:nvSpPr>
        <p:spPr>
          <a:xfrm>
            <a:off x="4818539" y="4856480"/>
            <a:ext cx="528320" cy="406400"/>
          </a:xfrm>
          <a:prstGeom prst="rect">
            <a:avLst/>
          </a:prstGeom>
          <a:noFill/>
          <a:ln/>
        </p:spPr>
        <p:txBody>
          <a:bodyPr wrap="none" lIns="0" tIns="0" rIns="0" bIns="0" rtlCol="0" anchor="t"/>
          <a:lstStyle/>
          <a:p>
            <a:pPr algn="l" indent="0" marL="0">
              <a:buNone/>
            </a:pPr>
            <a:r>
              <a:rPr lang="vi-VN" altLang="en-US" sz="1800" b="1" dirty="0">
                <a:solidFill>
                  <a:srgbClr val="1F2937"/>
                </a:solidFill>
                <a:latin typeface="Times New Roman" pitchFamily="34" charset="0"/>
                <a:ea typeface="Times New Roman" pitchFamily="34" charset="-122"/>
                <a:cs typeface="Times New Roman" pitchFamily="34" charset="-120"/>
              </a:rPr>
              <a:t>%</a:t>
            </a:r>
            <a:endParaRPr lang="vi-VN" sz="1800" dirty="0"/>
          </a:p>
        </p:txBody>
      </p:sp>
      <p:sp>
        <p:nvSpPr>
          <p:cNvPr id="16" name="editable-text-014"/>
          <p:cNvSpPr/>
          <p:nvPr/>
        </p:nvSpPr>
        <p:spPr>
          <a:xfrm>
            <a:off x="904240" y="5882640"/>
            <a:ext cx="467201" cy="406400"/>
          </a:xfrm>
          <a:prstGeom prst="rect">
            <a:avLst/>
          </a:prstGeom>
          <a:noFill/>
          <a:ln/>
        </p:spPr>
        <p:txBody>
          <a:bodyPr wrap="none" lIns="0" tIns="0" rIns="0" bIns="0" rtlCol="0" anchor="t"/>
          <a:lstStyle/>
          <a:p>
            <a:pPr algn="l" indent="0" marL="0">
              <a:buNone/>
            </a:pPr>
            <a:r>
              <a:rPr lang="vi-VN" altLang="en-US" sz="1800" b="1" dirty="0">
                <a:solidFill>
                  <a:srgbClr val="000000"/>
                </a:solidFill>
                <a:latin typeface="Times New Roman" pitchFamily="34" charset="0"/>
                <a:ea typeface="Times New Roman" pitchFamily="34" charset="-122"/>
                <a:cs typeface="Times New Roman" pitchFamily="34" charset="-120"/>
              </a:rPr>
              <a:t>✓</a:t>
            </a:r>
            <a:endParaRPr lang="vi-VN" sz="1800" dirty="0"/>
          </a:p>
        </p:txBody>
      </p:sp>
      <p:sp>
        <p:nvSpPr>
          <p:cNvPr id="17" name="editable-text-015"/>
          <p:cNvSpPr/>
          <p:nvPr/>
        </p:nvSpPr>
        <p:spPr>
          <a:xfrm>
            <a:off x="1249521" y="5882640"/>
            <a:ext cx="5486400" cy="772160"/>
          </a:xfrm>
          <a:prstGeom prst="rect">
            <a:avLst/>
          </a:prstGeom>
          <a:noFill/>
          <a:ln/>
        </p:spPr>
        <p:txBody>
          <a:bodyPr wrap="square" lIns="0" tIns="0" rIns="0" bIns="0" rtlCol="0" anchor="t"/>
          <a:lstStyle/>
          <a:p>
            <a:pPr algn="l" indent="0" marL="0">
              <a:buNone/>
            </a:pPr>
            <a:r>
              <a:rPr lang="vi-VN" altLang="en-US" sz="1500" b="1" dirty="0">
                <a:solidFill>
                  <a:srgbClr val="000000"/>
                </a:solidFill>
                <a:latin typeface="Times New Roman" pitchFamily="34" charset="0"/>
                <a:ea typeface="Times New Roman" pitchFamily="34" charset="-122"/>
                <a:cs typeface="Times New Roman" pitchFamily="34" charset="-120"/>
              </a:rPr>
              <a:t>AI làm sáng tỏ lý do dự báo:</a:t>
            </a:r>
            <a:pPr algn="l" indent="0" marL="0">
              <a:buNone/>
            </a:pPr>
            <a:r>
              <a:rPr lang="vi-VN" altLang="en-US" sz="1500" dirty="0">
                <a:solidFill>
                  <a:srgbClr val="000000"/>
                </a:solidFill>
                <a:latin typeface="Times New Roman" pitchFamily="34" charset="0"/>
                <a:ea typeface="Times New Roman" pitchFamily="34" charset="-122"/>
                <a:cs typeface="Times New Roman" pitchFamily="34" charset="-120"/>
              </a:rPr>
              <a:t> Đà giá lịch sử (kỳ gần) đóng vai trò quyết định chính.</a:t>
            </a:r>
            <a:endParaRPr lang="vi-VN" sz="1500" dirty="0"/>
          </a:p>
        </p:txBody>
      </p:sp>
      <p:sp>
        <p:nvSpPr>
          <p:cNvPr id="18" name="editable-text-016"/>
          <p:cNvSpPr/>
          <p:nvPr/>
        </p:nvSpPr>
        <p:spPr>
          <a:xfrm>
            <a:off x="904240" y="6370320"/>
            <a:ext cx="467201" cy="406400"/>
          </a:xfrm>
          <a:prstGeom prst="rect">
            <a:avLst/>
          </a:prstGeom>
          <a:noFill/>
          <a:ln/>
        </p:spPr>
        <p:txBody>
          <a:bodyPr wrap="none" lIns="0" tIns="0" rIns="0" bIns="0" rtlCol="0" anchor="t"/>
          <a:lstStyle/>
          <a:p>
            <a:pPr algn="l" indent="0" marL="0">
              <a:buNone/>
            </a:pPr>
            <a:r>
              <a:rPr lang="vi-VN" altLang="en-US" sz="1800" b="1" dirty="0">
                <a:solidFill>
                  <a:srgbClr val="000000"/>
                </a:solidFill>
                <a:latin typeface="Times New Roman" pitchFamily="34" charset="0"/>
                <a:ea typeface="Times New Roman" pitchFamily="34" charset="-122"/>
                <a:cs typeface="Times New Roman" pitchFamily="34" charset="-120"/>
              </a:rPr>
              <a:t>✓</a:t>
            </a:r>
            <a:endParaRPr lang="vi-VN" sz="1800" dirty="0"/>
          </a:p>
        </p:txBody>
      </p:sp>
      <p:sp>
        <p:nvSpPr>
          <p:cNvPr id="19" name="editable-text-017"/>
          <p:cNvSpPr/>
          <p:nvPr/>
        </p:nvSpPr>
        <p:spPr>
          <a:xfrm>
            <a:off x="1249521" y="6370320"/>
            <a:ext cx="5735161" cy="772160"/>
          </a:xfrm>
          <a:prstGeom prst="rect">
            <a:avLst/>
          </a:prstGeom>
          <a:noFill/>
          <a:ln/>
        </p:spPr>
        <p:txBody>
          <a:bodyPr wrap="square" lIns="0" tIns="0" rIns="0" bIns="0" rtlCol="0" anchor="t"/>
          <a:lstStyle/>
          <a:p>
            <a:pPr algn="l" indent="0" marL="0">
              <a:buNone/>
            </a:pPr>
            <a:r>
              <a:rPr lang="vi-VN" altLang="en-US" sz="1500" b="1" dirty="0">
                <a:solidFill>
                  <a:srgbClr val="000000"/>
                </a:solidFill>
                <a:latin typeface="Times New Roman" pitchFamily="34" charset="0"/>
                <a:ea typeface="Times New Roman" pitchFamily="34" charset="-122"/>
                <a:cs typeface="Times New Roman" pitchFamily="34" charset="-120"/>
              </a:rPr>
              <a:t>Ngăn chặn nhận định cảm tính (Ví dụ:</a:t>
            </a:r>
            <a:pPr algn="l" indent="0" marL="0">
              <a:buNone/>
            </a:pPr>
            <a:r>
              <a:rPr lang="vi-VN" altLang="en-US" sz="1500" dirty="0">
                <a:solidFill>
                  <a:srgbClr val="000000"/>
                </a:solidFill>
                <a:latin typeface="Times New Roman" pitchFamily="34" charset="0"/>
                <a:ea typeface="Times New Roman" pitchFamily="34" charset="-122"/>
                <a:cs typeface="Times New Roman" pitchFamily="34" charset="-120"/>
              </a:rPr>
              <a:t> Mưa đột ngột hôm nay không làm rớt ngay giá bán ngày mai).</a:t>
            </a:r>
            <a:endParaRPr lang="vi-VN" sz="1500" dirty="0"/>
          </a:p>
        </p:txBody>
      </p:sp>
      <p:sp>
        <p:nvSpPr>
          <p:cNvPr id="20" name="editable-text-018"/>
          <p:cNvSpPr/>
          <p:nvPr/>
        </p:nvSpPr>
        <p:spPr>
          <a:xfrm>
            <a:off x="11358721"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14</a:t>
            </a:r>
            <a:endParaRPr lang="vi-VN" sz="1350" dirty="0"/>
          </a:p>
        </p:txBody>
      </p:sp>
      <p:sp>
        <p:nvSpPr>
          <p:cNvPr id="21" name="editable-text-019"/>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22" name="editable-text-020"/>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15-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325120" y="31496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GIAO DIỆN DI ĐỘNG (MOBILE UI)</a:t>
            </a:r>
            <a:endParaRPr lang="vi-VN" sz="2700" dirty="0"/>
          </a:p>
        </p:txBody>
      </p:sp>
      <p:sp>
        <p:nvSpPr>
          <p:cNvPr id="4" name="editable-text-002"/>
          <p:cNvSpPr/>
          <p:nvPr/>
        </p:nvSpPr>
        <p:spPr>
          <a:xfrm>
            <a:off x="8689975" y="33528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10129837" y="56896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538480" y="2108200"/>
            <a:ext cx="365760" cy="314960"/>
          </a:xfrm>
          <a:prstGeom prst="rect">
            <a:avLst/>
          </a:prstGeom>
          <a:noFill/>
          <a:ln/>
        </p:spPr>
        <p:txBody>
          <a:bodyPr wrap="none" lIns="0" tIns="0" rIns="0" bIns="0" rtlCol="0" anchor="t"/>
          <a:lstStyle/>
          <a:p>
            <a:pPr algn="l" indent="0" marL="0">
              <a:buNone/>
            </a:pPr>
            <a:r>
              <a:rPr lang="vi-VN" altLang="en-US" sz="1200" b="1" dirty="0">
                <a:solidFill>
                  <a:srgbClr val="FFFFFF"/>
                </a:solidFill>
                <a:latin typeface="Times New Roman" pitchFamily="34" charset="0"/>
                <a:ea typeface="Times New Roman" pitchFamily="34" charset="-122"/>
                <a:cs typeface="Times New Roman" pitchFamily="34" charset="-120"/>
              </a:rPr>
              <a:t>1</a:t>
            </a:r>
            <a:endParaRPr lang="vi-VN" sz="1200" dirty="0"/>
          </a:p>
        </p:txBody>
      </p:sp>
      <p:sp>
        <p:nvSpPr>
          <p:cNvPr id="7" name="editable-text-005"/>
          <p:cNvSpPr/>
          <p:nvPr/>
        </p:nvSpPr>
        <p:spPr>
          <a:xfrm>
            <a:off x="1717040" y="1905000"/>
            <a:ext cx="1432401"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Neo-Brutalism</a:t>
            </a:r>
            <a:endParaRPr lang="vi-VN" sz="1350" dirty="0"/>
          </a:p>
        </p:txBody>
      </p:sp>
      <p:sp>
        <p:nvSpPr>
          <p:cNvPr id="8" name="editable-text-006"/>
          <p:cNvSpPr/>
          <p:nvPr/>
        </p:nvSpPr>
        <p:spPr>
          <a:xfrm>
            <a:off x="1717040" y="2199640"/>
            <a:ext cx="1717040" cy="452120"/>
          </a:xfrm>
          <a:prstGeom prst="rect">
            <a:avLst/>
          </a:prstGeom>
          <a:noFill/>
          <a:ln/>
        </p:spPr>
        <p:txBody>
          <a:bodyPr wrap="square" lIns="0" tIns="0" rIns="0" bIns="0" rtlCol="0" anchor="t"/>
          <a:lstStyle/>
          <a:p>
            <a:pPr algn="l" indent="0" marL="0">
              <a:buNone/>
            </a:pPr>
            <a:r>
              <a:rPr lang="vi-VN" altLang="en-US" sz="900" dirty="0">
                <a:solidFill>
                  <a:srgbClr val="374151"/>
                </a:solidFill>
                <a:latin typeface="Times New Roman" pitchFamily="34" charset="0"/>
                <a:ea typeface="Times New Roman" pitchFamily="34" charset="-122"/>
                <a:cs typeface="Times New Roman" pitchFamily="34" charset="-120"/>
              </a:rPr>
              <a:t>Tương phản cao, dễ đọc dưới nắng gắt ngoài rẫy.</a:t>
            </a:r>
            <a:endParaRPr lang="vi-VN" sz="900" dirty="0"/>
          </a:p>
        </p:txBody>
      </p:sp>
      <p:sp>
        <p:nvSpPr>
          <p:cNvPr id="9" name="editable-text-007"/>
          <p:cNvSpPr/>
          <p:nvPr/>
        </p:nvSpPr>
        <p:spPr>
          <a:xfrm>
            <a:off x="538480" y="3327400"/>
            <a:ext cx="365760" cy="314960"/>
          </a:xfrm>
          <a:prstGeom prst="rect">
            <a:avLst/>
          </a:prstGeom>
          <a:noFill/>
          <a:ln/>
        </p:spPr>
        <p:txBody>
          <a:bodyPr wrap="none" lIns="0" tIns="0" rIns="0" bIns="0" rtlCol="0" anchor="t"/>
          <a:lstStyle/>
          <a:p>
            <a:pPr algn="l" indent="0" marL="0">
              <a:buNone/>
            </a:pPr>
            <a:r>
              <a:rPr lang="vi-VN" altLang="en-US" sz="1200" b="1" dirty="0">
                <a:solidFill>
                  <a:srgbClr val="FFFFFF"/>
                </a:solidFill>
                <a:latin typeface="Times New Roman" pitchFamily="34" charset="0"/>
                <a:ea typeface="Times New Roman" pitchFamily="34" charset="-122"/>
                <a:cs typeface="Times New Roman" pitchFamily="34" charset="-120"/>
              </a:rPr>
              <a:t>2</a:t>
            </a:r>
            <a:endParaRPr lang="vi-VN" sz="1200" dirty="0"/>
          </a:p>
        </p:txBody>
      </p:sp>
      <p:sp>
        <p:nvSpPr>
          <p:cNvPr id="10" name="editable-text-008"/>
          <p:cNvSpPr/>
          <p:nvPr/>
        </p:nvSpPr>
        <p:spPr>
          <a:xfrm>
            <a:off x="1717040" y="3124200"/>
            <a:ext cx="1407160"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Biệt lập tác vụ</a:t>
            </a:r>
            <a:endParaRPr lang="vi-VN" sz="1350" dirty="0"/>
          </a:p>
        </p:txBody>
      </p:sp>
      <p:sp>
        <p:nvSpPr>
          <p:cNvPr id="11" name="editable-text-009"/>
          <p:cNvSpPr/>
          <p:nvPr/>
        </p:nvSpPr>
        <p:spPr>
          <a:xfrm>
            <a:off x="1717040" y="3418840"/>
            <a:ext cx="1711642" cy="452120"/>
          </a:xfrm>
          <a:prstGeom prst="rect">
            <a:avLst/>
          </a:prstGeom>
          <a:noFill/>
          <a:ln/>
        </p:spPr>
        <p:txBody>
          <a:bodyPr wrap="square" lIns="0" tIns="0" rIns="0" bIns="0" rtlCol="0" anchor="t"/>
          <a:lstStyle/>
          <a:p>
            <a:pPr algn="l" indent="0" marL="0">
              <a:buNone/>
            </a:pPr>
            <a:r>
              <a:rPr lang="vi-VN" altLang="en-US" sz="900" dirty="0">
                <a:solidFill>
                  <a:srgbClr val="374151"/>
                </a:solidFill>
                <a:latin typeface="Times New Roman" pitchFamily="34" charset="0"/>
                <a:ea typeface="Times New Roman" pitchFamily="34" charset="-122"/>
                <a:cs typeface="Times New Roman" pitchFamily="34" charset="-120"/>
              </a:rPr>
              <a:t>Tách rõ luồng Dự báo Giá và Tư vấn Canh tác.</a:t>
            </a:r>
            <a:endParaRPr lang="vi-VN" sz="900" dirty="0"/>
          </a:p>
        </p:txBody>
      </p:sp>
      <p:sp>
        <p:nvSpPr>
          <p:cNvPr id="12" name="editable-text-010"/>
          <p:cNvSpPr/>
          <p:nvPr/>
        </p:nvSpPr>
        <p:spPr>
          <a:xfrm>
            <a:off x="538480" y="4546600"/>
            <a:ext cx="365760" cy="314960"/>
          </a:xfrm>
          <a:prstGeom prst="rect">
            <a:avLst/>
          </a:prstGeom>
          <a:noFill/>
          <a:ln/>
        </p:spPr>
        <p:txBody>
          <a:bodyPr wrap="none" lIns="0" tIns="0" rIns="0" bIns="0" rtlCol="0" anchor="t"/>
          <a:lstStyle/>
          <a:p>
            <a:pPr algn="l" indent="0" marL="0">
              <a:buNone/>
            </a:pPr>
            <a:r>
              <a:rPr lang="vi-VN" altLang="en-US" sz="1200" b="1" dirty="0">
                <a:solidFill>
                  <a:srgbClr val="FFFFFF"/>
                </a:solidFill>
                <a:latin typeface="Times New Roman" pitchFamily="34" charset="0"/>
                <a:ea typeface="Times New Roman" pitchFamily="34" charset="-122"/>
                <a:cs typeface="Times New Roman" pitchFamily="34" charset="-120"/>
              </a:rPr>
              <a:t>3</a:t>
            </a:r>
            <a:endParaRPr lang="vi-VN" sz="1200" dirty="0"/>
          </a:p>
        </p:txBody>
      </p:sp>
      <p:sp>
        <p:nvSpPr>
          <p:cNvPr id="13" name="editable-text-011"/>
          <p:cNvSpPr/>
          <p:nvPr/>
        </p:nvSpPr>
        <p:spPr>
          <a:xfrm>
            <a:off x="1717040" y="4343400"/>
            <a:ext cx="1497012"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An toàn dữ liệu</a:t>
            </a:r>
            <a:endParaRPr lang="vi-VN" sz="1350" dirty="0"/>
          </a:p>
        </p:txBody>
      </p:sp>
      <p:sp>
        <p:nvSpPr>
          <p:cNvPr id="14" name="editable-text-012"/>
          <p:cNvSpPr/>
          <p:nvPr/>
        </p:nvSpPr>
        <p:spPr>
          <a:xfrm>
            <a:off x="1717040" y="4638040"/>
            <a:ext cx="1805146" cy="452120"/>
          </a:xfrm>
          <a:prstGeom prst="rect">
            <a:avLst/>
          </a:prstGeom>
          <a:noFill/>
          <a:ln/>
        </p:spPr>
        <p:txBody>
          <a:bodyPr wrap="square" lIns="0" tIns="0" rIns="0" bIns="0" rtlCol="0" anchor="t"/>
          <a:lstStyle/>
          <a:p>
            <a:pPr algn="l" indent="0" marL="0">
              <a:buNone/>
            </a:pPr>
            <a:r>
              <a:rPr lang="vi-VN" altLang="en-US" sz="900" dirty="0">
                <a:solidFill>
                  <a:srgbClr val="374151"/>
                </a:solidFill>
                <a:latin typeface="Times New Roman" pitchFamily="34" charset="0"/>
                <a:ea typeface="Times New Roman" pitchFamily="34" charset="-122"/>
                <a:cs typeface="Times New Roman" pitchFamily="34" charset="-120"/>
              </a:rPr>
              <a:t>Lưu dự báo ngoại tuyến, hỗ trợ mạng 3G yếu chập chờn.</a:t>
            </a:r>
            <a:endParaRPr lang="vi-VN" sz="900" dirty="0"/>
          </a:p>
        </p:txBody>
      </p:sp>
      <p:sp>
        <p:nvSpPr>
          <p:cNvPr id="15" name="editable-text-013"/>
          <p:cNvSpPr/>
          <p:nvPr/>
        </p:nvSpPr>
        <p:spPr>
          <a:xfrm>
            <a:off x="538480" y="5765800"/>
            <a:ext cx="365760" cy="314960"/>
          </a:xfrm>
          <a:prstGeom prst="rect">
            <a:avLst/>
          </a:prstGeom>
          <a:noFill/>
          <a:ln/>
        </p:spPr>
        <p:txBody>
          <a:bodyPr wrap="none" lIns="0" tIns="0" rIns="0" bIns="0" rtlCol="0" anchor="t"/>
          <a:lstStyle/>
          <a:p>
            <a:pPr algn="l" indent="0" marL="0">
              <a:buNone/>
            </a:pPr>
            <a:r>
              <a:rPr lang="vi-VN" altLang="en-US" sz="1200" b="1" dirty="0">
                <a:solidFill>
                  <a:srgbClr val="FFFFFF"/>
                </a:solidFill>
                <a:latin typeface="Times New Roman" pitchFamily="34" charset="0"/>
                <a:ea typeface="Times New Roman" pitchFamily="34" charset="-122"/>
                <a:cs typeface="Times New Roman" pitchFamily="34" charset="-120"/>
              </a:rPr>
              <a:t>4</a:t>
            </a:r>
            <a:endParaRPr lang="vi-VN" sz="1200" dirty="0"/>
          </a:p>
        </p:txBody>
      </p:sp>
      <p:sp>
        <p:nvSpPr>
          <p:cNvPr id="16" name="editable-text-014"/>
          <p:cNvSpPr/>
          <p:nvPr/>
        </p:nvSpPr>
        <p:spPr>
          <a:xfrm>
            <a:off x="1717040" y="5562600"/>
            <a:ext cx="1692116" cy="345440"/>
          </a:xfrm>
          <a:prstGeom prst="rect">
            <a:avLst/>
          </a:prstGeom>
          <a:noFill/>
          <a:ln/>
        </p:spPr>
        <p:txBody>
          <a:bodyPr wrap="none" lIns="0" tIns="0" rIns="0" bIns="0" rtlCol="0" anchor="t"/>
          <a:lstStyle/>
          <a:p>
            <a:pPr algn="l" indent="0" marL="0">
              <a:buNone/>
            </a:pPr>
            <a:r>
              <a:rPr lang="vi-VN" altLang="en-US" sz="1350" b="1" dirty="0">
                <a:solidFill>
                  <a:srgbClr val="1E3A8A"/>
                </a:solidFill>
                <a:latin typeface="Times New Roman" pitchFamily="34" charset="0"/>
                <a:ea typeface="Times New Roman" pitchFamily="34" charset="-122"/>
                <a:cs typeface="Times New Roman" pitchFamily="34" charset="-120"/>
              </a:rPr>
              <a:t>Minh bạch đầu ra</a:t>
            </a:r>
            <a:endParaRPr lang="vi-VN" sz="1350" dirty="0"/>
          </a:p>
        </p:txBody>
      </p:sp>
      <p:sp>
        <p:nvSpPr>
          <p:cNvPr id="17" name="editable-text-015"/>
          <p:cNvSpPr/>
          <p:nvPr/>
        </p:nvSpPr>
        <p:spPr>
          <a:xfrm>
            <a:off x="1717040" y="5857240"/>
            <a:ext cx="1738789" cy="452120"/>
          </a:xfrm>
          <a:prstGeom prst="rect">
            <a:avLst/>
          </a:prstGeom>
          <a:noFill/>
          <a:ln/>
        </p:spPr>
        <p:txBody>
          <a:bodyPr wrap="square" lIns="0" tIns="0" rIns="0" bIns="0" rtlCol="0" anchor="t"/>
          <a:lstStyle/>
          <a:p>
            <a:pPr algn="l" indent="0" marL="0">
              <a:buNone/>
            </a:pPr>
            <a:r>
              <a:rPr lang="vi-VN" altLang="en-US" sz="900" dirty="0">
                <a:solidFill>
                  <a:srgbClr val="374151"/>
                </a:solidFill>
                <a:latin typeface="Times New Roman" pitchFamily="34" charset="0"/>
                <a:ea typeface="Times New Roman" pitchFamily="34" charset="-122"/>
                <a:cs typeface="Times New Roman" pitchFamily="34" charset="-120"/>
              </a:rPr>
              <a:t>Hiển thị mức đóng góp đặc trưng và khuyến nghị rõ ràng.</a:t>
            </a:r>
            <a:endParaRPr lang="vi-VN" sz="900" dirty="0"/>
          </a:p>
        </p:txBody>
      </p:sp>
      <p:sp>
        <p:nvSpPr>
          <p:cNvPr id="18" name="editable-text-016"/>
          <p:cNvSpPr/>
          <p:nvPr/>
        </p:nvSpPr>
        <p:spPr>
          <a:xfrm>
            <a:off x="4950003" y="2430475"/>
            <a:ext cx="1066660" cy="285293"/>
          </a:xfrm>
          <a:prstGeom prst="rect">
            <a:avLst/>
          </a:prstGeom>
          <a:noFill/>
          <a:ln/>
        </p:spPr>
        <p:txBody>
          <a:bodyPr wrap="none" lIns="0" tIns="0" rIns="0" bIns="0" rtlCol="0" anchor="t"/>
          <a:lstStyle/>
          <a:p>
            <a:pPr algn="l" indent="0" marL="0">
              <a:buNone/>
            </a:pPr>
            <a:r>
              <a:rPr lang="vi-VN" altLang="en-US" sz="1125" b="1" dirty="0">
                <a:solidFill>
                  <a:srgbClr val="1E3A8A"/>
                </a:solidFill>
                <a:latin typeface="Times New Roman" pitchFamily="34" charset="0"/>
                <a:ea typeface="Times New Roman" pitchFamily="34" charset="-122"/>
                <a:cs typeface="Times New Roman" pitchFamily="34" charset="-120"/>
              </a:rPr>
              <a:t>Nút chạm lớn</a:t>
            </a:r>
            <a:endParaRPr lang="vi-VN" sz="1125" dirty="0"/>
          </a:p>
        </p:txBody>
      </p:sp>
      <p:sp>
        <p:nvSpPr>
          <p:cNvPr id="19" name="editable-text-017"/>
          <p:cNvSpPr/>
          <p:nvPr/>
        </p:nvSpPr>
        <p:spPr>
          <a:xfrm>
            <a:off x="4706925" y="2667406"/>
            <a:ext cx="1661224" cy="414935"/>
          </a:xfrm>
          <a:prstGeom prst="rect">
            <a:avLst/>
          </a:prstGeom>
          <a:noFill/>
          <a:ln/>
        </p:spPr>
        <p:txBody>
          <a:bodyPr wrap="square" lIns="0" tIns="0" rIns="0" bIns="0" rtlCol="0" anchor="t"/>
          <a:lstStyle/>
          <a:p>
            <a:pPr algn="l" indent="0" marL="0">
              <a:buNone/>
            </a:pPr>
            <a:r>
              <a:rPr lang="vi-VN" altLang="en-US" sz="900" dirty="0">
                <a:solidFill>
                  <a:srgbClr val="4B5563"/>
                </a:solidFill>
                <a:latin typeface="Times New Roman" pitchFamily="34" charset="0"/>
                <a:ea typeface="Times New Roman" pitchFamily="34" charset="-122"/>
                <a:cs typeface="Times New Roman" pitchFamily="34" charset="-120"/>
              </a:rPr>
              <a:t>Khu vực chạm rộng, dễ sử dụng ngoài hiện trường.</a:t>
            </a:r>
            <a:endParaRPr lang="vi-VN" sz="900" dirty="0"/>
          </a:p>
        </p:txBody>
      </p:sp>
      <p:sp>
        <p:nvSpPr>
          <p:cNvPr id="20" name="editable-text-018"/>
          <p:cNvSpPr/>
          <p:nvPr/>
        </p:nvSpPr>
        <p:spPr>
          <a:xfrm>
            <a:off x="4950003" y="4647793"/>
            <a:ext cx="1147407" cy="285293"/>
          </a:xfrm>
          <a:prstGeom prst="rect">
            <a:avLst/>
          </a:prstGeom>
          <a:noFill/>
          <a:ln/>
        </p:spPr>
        <p:txBody>
          <a:bodyPr wrap="none" lIns="0" tIns="0" rIns="0" bIns="0" rtlCol="0" anchor="t"/>
          <a:lstStyle/>
          <a:p>
            <a:pPr algn="l" indent="0" marL="0">
              <a:buNone/>
            </a:pPr>
            <a:r>
              <a:rPr lang="vi-VN" altLang="en-US" sz="1125" b="1" dirty="0">
                <a:solidFill>
                  <a:srgbClr val="1E3A8A"/>
                </a:solidFill>
                <a:latin typeface="Times New Roman" pitchFamily="34" charset="0"/>
                <a:ea typeface="Times New Roman" pitchFamily="34" charset="-122"/>
                <a:cs typeface="Times New Roman" pitchFamily="34" charset="-120"/>
              </a:rPr>
              <a:t>Lịch sử Offline</a:t>
            </a:r>
            <a:endParaRPr lang="vi-VN" sz="1125" dirty="0"/>
          </a:p>
        </p:txBody>
      </p:sp>
      <p:sp>
        <p:nvSpPr>
          <p:cNvPr id="21" name="editable-text-019"/>
          <p:cNvSpPr/>
          <p:nvPr/>
        </p:nvSpPr>
        <p:spPr>
          <a:xfrm>
            <a:off x="4706925" y="4884725"/>
            <a:ext cx="1635798" cy="414934"/>
          </a:xfrm>
          <a:prstGeom prst="rect">
            <a:avLst/>
          </a:prstGeom>
          <a:noFill/>
          <a:ln/>
        </p:spPr>
        <p:txBody>
          <a:bodyPr wrap="square" lIns="0" tIns="0" rIns="0" bIns="0" rtlCol="0" anchor="t"/>
          <a:lstStyle/>
          <a:p>
            <a:pPr algn="l" indent="0" marL="0">
              <a:buNone/>
            </a:pPr>
            <a:r>
              <a:rPr lang="vi-VN" altLang="en-US" sz="900" dirty="0">
                <a:solidFill>
                  <a:srgbClr val="4B5563"/>
                </a:solidFill>
                <a:latin typeface="Times New Roman" pitchFamily="34" charset="0"/>
                <a:ea typeface="Times New Roman" pitchFamily="34" charset="-122"/>
                <a:cs typeface="Times New Roman" pitchFamily="34" charset="-120"/>
              </a:rPr>
              <a:t>Xem lại dự báo và khuyến nghị ngay cả khi không có mạng.</a:t>
            </a:r>
            <a:endParaRPr lang="vi-VN" sz="900" dirty="0"/>
          </a:p>
        </p:txBody>
      </p:sp>
      <p:sp>
        <p:nvSpPr>
          <p:cNvPr id="22" name="editable-text-020"/>
          <p:cNvSpPr/>
          <p:nvPr/>
        </p:nvSpPr>
        <p:spPr>
          <a:xfrm>
            <a:off x="10321747" y="1858264"/>
            <a:ext cx="969709" cy="285293"/>
          </a:xfrm>
          <a:prstGeom prst="rect">
            <a:avLst/>
          </a:prstGeom>
          <a:noFill/>
          <a:ln/>
        </p:spPr>
        <p:txBody>
          <a:bodyPr wrap="none" lIns="0" tIns="0" rIns="0" bIns="0" rtlCol="0" anchor="t"/>
          <a:lstStyle/>
          <a:p>
            <a:pPr algn="l" indent="0" marL="0">
              <a:buNone/>
            </a:pPr>
            <a:r>
              <a:rPr lang="vi-VN" altLang="en-US" sz="1125" b="1" dirty="0">
                <a:solidFill>
                  <a:srgbClr val="1E3A8A"/>
                </a:solidFill>
                <a:latin typeface="Times New Roman" pitchFamily="34" charset="0"/>
                <a:ea typeface="Times New Roman" pitchFamily="34" charset="-122"/>
                <a:cs typeface="Times New Roman" pitchFamily="34" charset="-120"/>
              </a:rPr>
              <a:t>Mobile-first</a:t>
            </a:r>
            <a:endParaRPr lang="vi-VN" sz="1125" dirty="0"/>
          </a:p>
        </p:txBody>
      </p:sp>
      <p:sp>
        <p:nvSpPr>
          <p:cNvPr id="23" name="editable-text-021"/>
          <p:cNvSpPr/>
          <p:nvPr/>
        </p:nvSpPr>
        <p:spPr>
          <a:xfrm>
            <a:off x="10321747" y="2050491"/>
            <a:ext cx="1446785" cy="372465"/>
          </a:xfrm>
          <a:prstGeom prst="rect">
            <a:avLst/>
          </a:prstGeom>
          <a:noFill/>
          <a:ln/>
        </p:spPr>
        <p:txBody>
          <a:bodyPr wrap="square" lIns="0" tIns="0" rIns="0" bIns="0" rtlCol="0" anchor="t"/>
          <a:lstStyle/>
          <a:p>
            <a:pPr algn="l" indent="0" marL="0">
              <a:buNone/>
            </a:pPr>
            <a:r>
              <a:rPr lang="vi-VN" altLang="en-US" sz="825" dirty="0">
                <a:solidFill>
                  <a:srgbClr val="4B5563"/>
                </a:solidFill>
                <a:latin typeface="Times New Roman" pitchFamily="34" charset="0"/>
                <a:ea typeface="Times New Roman" pitchFamily="34" charset="-122"/>
                <a:cs typeface="Times New Roman" pitchFamily="34" charset="-120"/>
              </a:rPr>
              <a:t>Thiết kế tối ưu cho điện thoại và dùng tốt trên 3G yếu.</a:t>
            </a:r>
            <a:endParaRPr lang="vi-VN" sz="825" dirty="0"/>
          </a:p>
        </p:txBody>
      </p:sp>
      <p:sp>
        <p:nvSpPr>
          <p:cNvPr id="24" name="editable-text-022"/>
          <p:cNvSpPr/>
          <p:nvPr/>
        </p:nvSpPr>
        <p:spPr>
          <a:xfrm>
            <a:off x="10010496" y="3213633"/>
            <a:ext cx="1171575" cy="267411"/>
          </a:xfrm>
          <a:prstGeom prst="rect">
            <a:avLst/>
          </a:prstGeom>
          <a:noFill/>
          <a:ln/>
        </p:spPr>
        <p:txBody>
          <a:bodyPr wrap="none" lIns="0" tIns="0" rIns="0" bIns="0" rtlCol="0" anchor="t"/>
          <a:lstStyle/>
          <a:p>
            <a:pPr algn="l" indent="0" marL="0">
              <a:buNone/>
            </a:pPr>
            <a:r>
              <a:rPr lang="vi-VN" altLang="en-US" sz="900" b="1" dirty="0">
                <a:solidFill>
                  <a:srgbClr val="374151"/>
                </a:solidFill>
                <a:latin typeface="Times New Roman" pitchFamily="34" charset="0"/>
                <a:ea typeface="Times New Roman" pitchFamily="34" charset="-122"/>
                <a:cs typeface="Times New Roman" pitchFamily="34" charset="-120"/>
              </a:rPr>
              <a:t>Dự báo Giá Cà Phê</a:t>
            </a:r>
            <a:endParaRPr lang="vi-VN" sz="900" dirty="0"/>
          </a:p>
        </p:txBody>
      </p:sp>
      <p:sp>
        <p:nvSpPr>
          <p:cNvPr id="25" name="editable-text-023"/>
          <p:cNvSpPr/>
          <p:nvPr/>
        </p:nvSpPr>
        <p:spPr>
          <a:xfrm>
            <a:off x="11255362" y="3227044"/>
            <a:ext cx="799274" cy="240589"/>
          </a:xfrm>
          <a:prstGeom prst="rect">
            <a:avLst/>
          </a:prstGeom>
          <a:noFill/>
          <a:ln/>
        </p:spPr>
        <p:txBody>
          <a:bodyPr wrap="none" lIns="0" tIns="0" rIns="0" bIns="0" rtlCol="0" anchor="t"/>
          <a:lstStyle/>
          <a:p>
            <a:pPr algn="l" indent="0" marL="0">
              <a:buNone/>
            </a:pPr>
            <a:r>
              <a:rPr lang="vi-VN" altLang="en-US" sz="750" dirty="0">
                <a:solidFill>
                  <a:srgbClr val="000000"/>
                </a:solidFill>
                <a:latin typeface="Times New Roman" pitchFamily="34" charset="0"/>
                <a:ea typeface="Times New Roman" pitchFamily="34" charset="-122"/>
                <a:cs typeface="Times New Roman" pitchFamily="34" charset="-120"/>
              </a:rPr>
              <a:t>Xem chi tiết &gt;</a:t>
            </a:r>
            <a:endParaRPr lang="vi-VN" sz="750" dirty="0"/>
          </a:p>
        </p:txBody>
      </p:sp>
      <p:sp>
        <p:nvSpPr>
          <p:cNvPr id="26" name="editable-text-024"/>
          <p:cNvSpPr/>
          <p:nvPr/>
        </p:nvSpPr>
        <p:spPr>
          <a:xfrm>
            <a:off x="9785299" y="3543046"/>
            <a:ext cx="731520" cy="338937"/>
          </a:xfrm>
          <a:prstGeom prst="rect">
            <a:avLst/>
          </a:prstGeom>
          <a:noFill/>
          <a:ln/>
        </p:spPr>
        <p:txBody>
          <a:bodyPr wrap="none" lIns="0" tIns="0" rIns="0" bIns="0" rtlCol="0" anchor="t"/>
          <a:lstStyle/>
          <a:p>
            <a:pPr algn="l" indent="0" marL="0">
              <a:buNone/>
            </a:pPr>
            <a:r>
              <a:rPr lang="vi-VN" altLang="en-US" sz="1500" b="1" dirty="0">
                <a:solidFill>
                  <a:srgbClr val="000000"/>
                </a:solidFill>
                <a:latin typeface="Times New Roman" pitchFamily="34" charset="0"/>
                <a:ea typeface="Times New Roman" pitchFamily="34" charset="-122"/>
                <a:cs typeface="Times New Roman" pitchFamily="34" charset="-120"/>
              </a:rPr>
              <a:t>146.5</a:t>
            </a:r>
            <a:endParaRPr lang="vi-VN" sz="1500" dirty="0"/>
          </a:p>
        </p:txBody>
      </p:sp>
      <p:sp>
        <p:nvSpPr>
          <p:cNvPr id="27" name="editable-text-025"/>
          <p:cNvSpPr/>
          <p:nvPr/>
        </p:nvSpPr>
        <p:spPr>
          <a:xfrm>
            <a:off x="10232339" y="3623513"/>
            <a:ext cx="669493" cy="240589"/>
          </a:xfrm>
          <a:prstGeom prst="rect">
            <a:avLst/>
          </a:prstGeom>
          <a:noFill/>
          <a:ln/>
        </p:spPr>
        <p:txBody>
          <a:bodyPr wrap="none" lIns="0" tIns="0" rIns="0" bIns="0" rtlCol="0" anchor="t"/>
          <a:lstStyle/>
          <a:p>
            <a:pPr algn="l" indent="0" marL="0">
              <a:buNone/>
            </a:pPr>
            <a:r>
              <a:rPr lang="vi-VN" altLang="en-US" sz="750" dirty="0">
                <a:solidFill>
                  <a:srgbClr val="6B7280"/>
                </a:solidFill>
                <a:latin typeface="Times New Roman" pitchFamily="34" charset="0"/>
                <a:ea typeface="Times New Roman" pitchFamily="34" charset="-122"/>
                <a:cs typeface="Times New Roman" pitchFamily="34" charset="-120"/>
              </a:rPr>
              <a:t>nghìn đ/kg</a:t>
            </a:r>
            <a:endParaRPr lang="vi-VN" sz="750" dirty="0"/>
          </a:p>
        </p:txBody>
      </p:sp>
      <p:sp>
        <p:nvSpPr>
          <p:cNvPr id="28" name="editable-text-026"/>
          <p:cNvSpPr/>
          <p:nvPr/>
        </p:nvSpPr>
        <p:spPr>
          <a:xfrm>
            <a:off x="11362232" y="3513988"/>
            <a:ext cx="692404" cy="267411"/>
          </a:xfrm>
          <a:prstGeom prst="rect">
            <a:avLst/>
          </a:prstGeom>
          <a:noFill/>
          <a:ln/>
        </p:spPr>
        <p:txBody>
          <a:bodyPr wrap="none" lIns="0" tIns="0" rIns="0" bIns="0" rtlCol="0" anchor="t"/>
          <a:lstStyle/>
          <a:p>
            <a:pPr algn="r" indent="0" marL="0">
              <a:buNone/>
            </a:pPr>
            <a:r>
              <a:rPr lang="vi-VN" altLang="en-US" sz="900" b="1" dirty="0">
                <a:solidFill>
                  <a:srgbClr val="000000"/>
                </a:solidFill>
                <a:latin typeface="Times New Roman" pitchFamily="34" charset="0"/>
                <a:ea typeface="Times New Roman" pitchFamily="34" charset="-122"/>
                <a:cs typeface="Times New Roman" pitchFamily="34" charset="-120"/>
              </a:rPr>
              <a:t>+2.8% ↗</a:t>
            </a:r>
            <a:endParaRPr lang="vi-VN" sz="900" dirty="0"/>
          </a:p>
        </p:txBody>
      </p:sp>
      <p:sp>
        <p:nvSpPr>
          <p:cNvPr id="29" name="editable-text-027"/>
          <p:cNvSpPr/>
          <p:nvPr/>
        </p:nvSpPr>
        <p:spPr>
          <a:xfrm>
            <a:off x="11169866" y="3665982"/>
            <a:ext cx="884771" cy="231648"/>
          </a:xfrm>
          <a:prstGeom prst="rect">
            <a:avLst/>
          </a:prstGeom>
          <a:noFill/>
          <a:ln/>
        </p:spPr>
        <p:txBody>
          <a:bodyPr wrap="none" lIns="0" tIns="0" rIns="0" bIns="0" rtlCol="0" anchor="t"/>
          <a:lstStyle/>
          <a:p>
            <a:pPr algn="r" indent="0" marL="0">
              <a:buNone/>
            </a:pPr>
            <a:r>
              <a:rPr lang="vi-VN" altLang="en-US" sz="675" dirty="0">
                <a:solidFill>
                  <a:srgbClr val="000000"/>
                </a:solidFill>
                <a:latin typeface="Times New Roman" pitchFamily="34" charset="0"/>
                <a:ea typeface="Times New Roman" pitchFamily="34" charset="-122"/>
                <a:cs typeface="Times New Roman" pitchFamily="34" charset="-120"/>
              </a:rPr>
              <a:t>So với tháng trước</a:t>
            </a:r>
            <a:endParaRPr lang="vi-VN" sz="675" dirty="0"/>
          </a:p>
        </p:txBody>
      </p:sp>
      <p:sp>
        <p:nvSpPr>
          <p:cNvPr id="30" name="editable-text-028"/>
          <p:cNvSpPr/>
          <p:nvPr/>
        </p:nvSpPr>
        <p:spPr>
          <a:xfrm>
            <a:off x="9981996" y="4281221"/>
            <a:ext cx="1301217" cy="267411"/>
          </a:xfrm>
          <a:prstGeom prst="rect">
            <a:avLst/>
          </a:prstGeom>
          <a:noFill/>
          <a:ln/>
        </p:spPr>
        <p:txBody>
          <a:bodyPr wrap="none" lIns="0" tIns="0" rIns="0" bIns="0" rtlCol="0" anchor="t"/>
          <a:lstStyle/>
          <a:p>
            <a:pPr algn="l" indent="0" marL="0">
              <a:buNone/>
            </a:pPr>
            <a:r>
              <a:rPr lang="vi-VN" altLang="en-US" sz="900" b="1" dirty="0">
                <a:solidFill>
                  <a:srgbClr val="374151"/>
                </a:solidFill>
                <a:latin typeface="Times New Roman" pitchFamily="34" charset="0"/>
                <a:ea typeface="Times New Roman" pitchFamily="34" charset="-122"/>
                <a:cs typeface="Times New Roman" pitchFamily="34" charset="-120"/>
              </a:rPr>
              <a:t>Khuyến nghị hôm nay</a:t>
            </a:r>
            <a:endParaRPr lang="vi-VN" sz="900" dirty="0"/>
          </a:p>
        </p:txBody>
      </p:sp>
      <p:sp>
        <p:nvSpPr>
          <p:cNvPr id="31" name="editable-text-029"/>
          <p:cNvSpPr/>
          <p:nvPr/>
        </p:nvSpPr>
        <p:spPr>
          <a:xfrm>
            <a:off x="10142931" y="4594149"/>
            <a:ext cx="1168641" cy="267411"/>
          </a:xfrm>
          <a:prstGeom prst="rect">
            <a:avLst/>
          </a:prstGeom>
          <a:noFill/>
          <a:ln/>
        </p:spPr>
        <p:txBody>
          <a:bodyPr wrap="none" lIns="0" tIns="0" rIns="0" bIns="0" rtlCol="0" anchor="t"/>
          <a:lstStyle/>
          <a:p>
            <a:pPr algn="l" indent="0" marL="0">
              <a:buNone/>
            </a:pPr>
            <a:r>
              <a:rPr lang="vi-VN" altLang="en-US" sz="900" b="1" dirty="0">
                <a:solidFill>
                  <a:srgbClr val="1F2937"/>
                </a:solidFill>
                <a:latin typeface="Times New Roman" pitchFamily="34" charset="0"/>
                <a:ea typeface="Times New Roman" pitchFamily="34" charset="-122"/>
                <a:cs typeface="Times New Roman" pitchFamily="34" charset="-120"/>
              </a:rPr>
              <a:t>Tưới nhẹ buổi sáng</a:t>
            </a:r>
            <a:endParaRPr lang="vi-VN" sz="900" dirty="0"/>
          </a:p>
        </p:txBody>
      </p:sp>
      <p:sp>
        <p:nvSpPr>
          <p:cNvPr id="32" name="editable-text-030"/>
          <p:cNvSpPr/>
          <p:nvPr/>
        </p:nvSpPr>
        <p:spPr>
          <a:xfrm>
            <a:off x="10142931" y="4772965"/>
            <a:ext cx="1106615" cy="240589"/>
          </a:xfrm>
          <a:prstGeom prst="rect">
            <a:avLst/>
          </a:prstGeom>
          <a:noFill/>
          <a:ln/>
        </p:spPr>
        <p:txBody>
          <a:bodyPr wrap="none" lIns="0" tIns="0" rIns="0" bIns="0" rtlCol="0" anchor="t"/>
          <a:lstStyle/>
          <a:p>
            <a:pPr algn="l" indent="0" marL="0">
              <a:buNone/>
            </a:pPr>
            <a:r>
              <a:rPr lang="vi-VN" altLang="en-US" sz="750" dirty="0">
                <a:solidFill>
                  <a:srgbClr val="6B7280"/>
                </a:solidFill>
                <a:latin typeface="Times New Roman" pitchFamily="34" charset="0"/>
                <a:ea typeface="Times New Roman" pitchFamily="34" charset="-122"/>
                <a:cs typeface="Times New Roman" pitchFamily="34" charset="-120"/>
              </a:rPr>
              <a:t>25–31°C • Độ ẩm 68%</a:t>
            </a:r>
            <a:endParaRPr lang="vi-VN" sz="750" dirty="0"/>
          </a:p>
        </p:txBody>
      </p:sp>
      <p:sp>
        <p:nvSpPr>
          <p:cNvPr id="33" name="editable-text-031"/>
          <p:cNvSpPr/>
          <p:nvPr/>
        </p:nvSpPr>
        <p:spPr>
          <a:xfrm>
            <a:off x="10285984" y="5354116"/>
            <a:ext cx="1218514" cy="276352"/>
          </a:xfrm>
          <a:prstGeom prst="rect">
            <a:avLst/>
          </a:prstGeom>
          <a:noFill/>
          <a:ln/>
        </p:spPr>
        <p:txBody>
          <a:bodyPr wrap="none" lIns="0" tIns="0" rIns="0" bIns="0" rtlCol="0" anchor="t"/>
          <a:lstStyle/>
          <a:p>
            <a:pPr algn="l" indent="0" marL="0">
              <a:buNone/>
            </a:pPr>
            <a:r>
              <a:rPr lang="vi-VN" altLang="en-US" sz="975" b="1" dirty="0">
                <a:solidFill>
                  <a:srgbClr val="1E3A8A"/>
                </a:solidFill>
                <a:latin typeface="Times New Roman" pitchFamily="34" charset="0"/>
                <a:ea typeface="Times New Roman" pitchFamily="34" charset="-122"/>
                <a:cs typeface="Times New Roman" pitchFamily="34" charset="-120"/>
              </a:rPr>
              <a:t>Disclaimer rõ ràng</a:t>
            </a:r>
            <a:endParaRPr lang="vi-VN" sz="975" dirty="0"/>
          </a:p>
        </p:txBody>
      </p:sp>
      <p:sp>
        <p:nvSpPr>
          <p:cNvPr id="34" name="editable-text-032"/>
          <p:cNvSpPr/>
          <p:nvPr/>
        </p:nvSpPr>
        <p:spPr>
          <a:xfrm>
            <a:off x="10285984" y="5528462"/>
            <a:ext cx="1362405" cy="352349"/>
          </a:xfrm>
          <a:prstGeom prst="rect">
            <a:avLst/>
          </a:prstGeom>
          <a:noFill/>
          <a:ln/>
        </p:spPr>
        <p:txBody>
          <a:bodyPr wrap="square" lIns="0" tIns="0" rIns="0" bIns="0" rtlCol="0" anchor="t"/>
          <a:lstStyle/>
          <a:p>
            <a:pPr algn="l" indent="0" marL="0">
              <a:buNone/>
            </a:pPr>
            <a:r>
              <a:rPr lang="vi-VN" altLang="en-US" sz="750" dirty="0">
                <a:solidFill>
                  <a:srgbClr val="4B5563"/>
                </a:solidFill>
                <a:latin typeface="Times New Roman" pitchFamily="34" charset="0"/>
                <a:ea typeface="Times New Roman" pitchFamily="34" charset="-122"/>
                <a:cs typeface="Times New Roman" pitchFamily="34" charset="-120"/>
              </a:rPr>
              <a:t>Thông báo cố định an toàn, luôn hiển thị ở cuối màn hình.</a:t>
            </a:r>
            <a:endParaRPr lang="vi-VN" sz="750" dirty="0"/>
          </a:p>
        </p:txBody>
      </p:sp>
      <p:sp>
        <p:nvSpPr>
          <p:cNvPr id="35" name="editable-text-033"/>
          <p:cNvSpPr/>
          <p:nvPr/>
        </p:nvSpPr>
        <p:spPr>
          <a:xfrm>
            <a:off x="7229906" y="1536395"/>
            <a:ext cx="1177582" cy="276352"/>
          </a:xfrm>
          <a:prstGeom prst="rect">
            <a:avLst/>
          </a:prstGeom>
          <a:noFill/>
          <a:ln/>
        </p:spPr>
        <p:txBody>
          <a:bodyPr wrap="none" lIns="0" tIns="0" rIns="0" bIns="0" rtlCol="0" anchor="t"/>
          <a:lstStyle/>
          <a:p>
            <a:pPr algn="l" indent="0" marL="0">
              <a:buNone/>
            </a:pPr>
            <a:r>
              <a:rPr lang="vi-VN" altLang="en-US" sz="975" b="1" dirty="0">
                <a:solidFill>
                  <a:srgbClr val="1F2937"/>
                </a:solidFill>
                <a:latin typeface="Times New Roman" pitchFamily="34" charset="0"/>
                <a:ea typeface="Times New Roman" pitchFamily="34" charset="-122"/>
                <a:cs typeface="Times New Roman" pitchFamily="34" charset="-120"/>
              </a:rPr>
              <a:t>AI Trợ Lý Cà Phê</a:t>
            </a:r>
            <a:endParaRPr lang="vi-VN" sz="975" dirty="0"/>
          </a:p>
        </p:txBody>
      </p:sp>
      <p:sp>
        <p:nvSpPr>
          <p:cNvPr id="36" name="editable-text-034"/>
          <p:cNvSpPr/>
          <p:nvPr/>
        </p:nvSpPr>
        <p:spPr>
          <a:xfrm>
            <a:off x="7004710" y="1844853"/>
            <a:ext cx="1765300" cy="338938"/>
          </a:xfrm>
          <a:prstGeom prst="rect">
            <a:avLst/>
          </a:prstGeom>
          <a:noFill/>
          <a:ln/>
        </p:spPr>
        <p:txBody>
          <a:bodyPr wrap="none" lIns="0" tIns="0" rIns="0" bIns="0" rtlCol="0" anchor="t"/>
          <a:lstStyle/>
          <a:p>
            <a:pPr algn="l" indent="0" marL="0">
              <a:buNone/>
            </a:pPr>
            <a:r>
              <a:rPr lang="vi-VN" altLang="en-US" sz="1500" b="1" dirty="0">
                <a:solidFill>
                  <a:srgbClr val="000000"/>
                </a:solidFill>
                <a:latin typeface="Times New Roman" pitchFamily="34" charset="0"/>
                <a:ea typeface="Times New Roman" pitchFamily="34" charset="-122"/>
                <a:cs typeface="Times New Roman" pitchFamily="34" charset="-120"/>
              </a:rPr>
              <a:t>Xin chào nhà nông,</a:t>
            </a:r>
            <a:endParaRPr lang="vi-VN" sz="1500" dirty="0"/>
          </a:p>
        </p:txBody>
      </p:sp>
      <p:sp>
        <p:nvSpPr>
          <p:cNvPr id="37" name="editable-text-035"/>
          <p:cNvSpPr/>
          <p:nvPr/>
        </p:nvSpPr>
        <p:spPr>
          <a:xfrm>
            <a:off x="7004710" y="2095195"/>
            <a:ext cx="1479334" cy="267411"/>
          </a:xfrm>
          <a:prstGeom prst="rect">
            <a:avLst/>
          </a:prstGeom>
          <a:noFill/>
          <a:ln/>
        </p:spPr>
        <p:txBody>
          <a:bodyPr wrap="none" lIns="0" tIns="0" rIns="0" bIns="0" rtlCol="0" anchor="t"/>
          <a:lstStyle/>
          <a:p>
            <a:pPr algn="l" indent="0" marL="0">
              <a:buNone/>
            </a:pPr>
            <a:r>
              <a:rPr lang="vi-VN" altLang="en-US" sz="900" dirty="0">
                <a:solidFill>
                  <a:srgbClr val="4B5563"/>
                </a:solidFill>
                <a:latin typeface="Times New Roman" pitchFamily="34" charset="0"/>
                <a:ea typeface="Times New Roman" pitchFamily="34" charset="-122"/>
                <a:cs typeface="Times New Roman" pitchFamily="34" charset="-120"/>
              </a:rPr>
              <a:t>Hôm nay bạn muốn làm gì?</a:t>
            </a:r>
            <a:endParaRPr lang="vi-VN" sz="900" dirty="0"/>
          </a:p>
        </p:txBody>
      </p:sp>
      <p:sp>
        <p:nvSpPr>
          <p:cNvPr id="38" name="editable-text-036"/>
          <p:cNvSpPr/>
          <p:nvPr/>
        </p:nvSpPr>
        <p:spPr>
          <a:xfrm>
            <a:off x="7085177" y="2953512"/>
            <a:ext cx="1393279" cy="285293"/>
          </a:xfrm>
          <a:prstGeom prst="rect">
            <a:avLst/>
          </a:prstGeom>
          <a:noFill/>
          <a:ln/>
        </p:spPr>
        <p:txBody>
          <a:bodyPr wrap="none" lIns="0" tIns="0" rIns="0" bIns="0" rtlCol="0" anchor="t"/>
          <a:lstStyle/>
          <a:p>
            <a:pPr algn="l" indent="0" marL="0">
              <a:buNone/>
            </a:pPr>
            <a:r>
              <a:rPr lang="vi-VN" altLang="en-US" sz="1125" b="1" dirty="0">
                <a:solidFill>
                  <a:srgbClr val="000000"/>
                </a:solidFill>
                <a:latin typeface="Times New Roman" pitchFamily="34" charset="0"/>
                <a:ea typeface="Times New Roman" pitchFamily="34" charset="-122"/>
                <a:cs typeface="Times New Roman" pitchFamily="34" charset="-120"/>
              </a:rPr>
              <a:t>Dự báo Giá Cà Phê</a:t>
            </a:r>
            <a:endParaRPr lang="vi-VN" sz="1125" dirty="0"/>
          </a:p>
        </p:txBody>
      </p:sp>
      <p:sp>
        <p:nvSpPr>
          <p:cNvPr id="39" name="editable-text-037"/>
          <p:cNvSpPr/>
          <p:nvPr/>
        </p:nvSpPr>
        <p:spPr>
          <a:xfrm>
            <a:off x="7085177" y="3172562"/>
            <a:ext cx="2270176" cy="382245"/>
          </a:xfrm>
          <a:prstGeom prst="rect">
            <a:avLst/>
          </a:prstGeom>
          <a:noFill/>
          <a:ln/>
        </p:spPr>
        <p:txBody>
          <a:bodyPr wrap="square" lIns="0" tIns="0" rIns="0" bIns="0" rtlCol="0" anchor="t"/>
          <a:lstStyle/>
          <a:p>
            <a:pPr algn="l" indent="0" marL="0">
              <a:buNone/>
            </a:pPr>
            <a:r>
              <a:rPr lang="vi-VN" altLang="en-US" sz="825" dirty="0">
                <a:solidFill>
                  <a:srgbClr val="4B5563"/>
                </a:solidFill>
                <a:latin typeface="Times New Roman" pitchFamily="34" charset="0"/>
                <a:ea typeface="Times New Roman" pitchFamily="34" charset="-122"/>
                <a:cs typeface="Times New Roman" pitchFamily="34" charset="-120"/>
              </a:rPr>
              <a:t>Xem dự báo giá cà phê trong các tháng tới và mức độ tin cậy.</a:t>
            </a:r>
            <a:endParaRPr lang="vi-VN" sz="825" dirty="0"/>
          </a:p>
        </p:txBody>
      </p:sp>
      <p:sp>
        <p:nvSpPr>
          <p:cNvPr id="40" name="editable-text-038"/>
          <p:cNvSpPr/>
          <p:nvPr/>
        </p:nvSpPr>
        <p:spPr>
          <a:xfrm>
            <a:off x="7085177" y="4189019"/>
            <a:ext cx="1248131" cy="285293"/>
          </a:xfrm>
          <a:prstGeom prst="rect">
            <a:avLst/>
          </a:prstGeom>
          <a:noFill/>
          <a:ln/>
        </p:spPr>
        <p:txBody>
          <a:bodyPr wrap="none" lIns="0" tIns="0" rIns="0" bIns="0" rtlCol="0" anchor="t"/>
          <a:lstStyle/>
          <a:p>
            <a:pPr algn="l" indent="0" marL="0">
              <a:buNone/>
            </a:pPr>
            <a:r>
              <a:rPr lang="vi-VN" altLang="en-US" sz="1125" b="1" dirty="0">
                <a:solidFill>
                  <a:srgbClr val="000000"/>
                </a:solidFill>
                <a:latin typeface="Times New Roman" pitchFamily="34" charset="0"/>
                <a:ea typeface="Times New Roman" pitchFamily="34" charset="-122"/>
                <a:cs typeface="Times New Roman" pitchFamily="34" charset="-120"/>
              </a:rPr>
              <a:t>Tư vấn Canh tác</a:t>
            </a:r>
            <a:endParaRPr lang="vi-VN" sz="1125" dirty="0"/>
          </a:p>
        </p:txBody>
      </p:sp>
      <p:sp>
        <p:nvSpPr>
          <p:cNvPr id="41" name="editable-text-039"/>
          <p:cNvSpPr/>
          <p:nvPr/>
        </p:nvSpPr>
        <p:spPr>
          <a:xfrm>
            <a:off x="7085177" y="4408068"/>
            <a:ext cx="2243214" cy="382245"/>
          </a:xfrm>
          <a:prstGeom prst="rect">
            <a:avLst/>
          </a:prstGeom>
          <a:noFill/>
          <a:ln/>
        </p:spPr>
        <p:txBody>
          <a:bodyPr wrap="square" lIns="0" tIns="0" rIns="0" bIns="0" rtlCol="0" anchor="t"/>
          <a:lstStyle/>
          <a:p>
            <a:pPr algn="l" indent="0" marL="0">
              <a:buNone/>
            </a:pPr>
            <a:r>
              <a:rPr lang="vi-VN" altLang="en-US" sz="825" dirty="0">
                <a:solidFill>
                  <a:srgbClr val="4B5563"/>
                </a:solidFill>
                <a:latin typeface="Times New Roman" pitchFamily="34" charset="0"/>
                <a:ea typeface="Times New Roman" pitchFamily="34" charset="-122"/>
                <a:cs typeface="Times New Roman" pitchFamily="34" charset="-120"/>
              </a:rPr>
              <a:t>Nhận lời khuyên chăm sóc vườn dựa trên thời tiết và loại đất.</a:t>
            </a:r>
            <a:endParaRPr lang="vi-VN" sz="825" dirty="0"/>
          </a:p>
        </p:txBody>
      </p:sp>
      <p:sp>
        <p:nvSpPr>
          <p:cNvPr id="42" name="editable-text-040"/>
          <p:cNvSpPr/>
          <p:nvPr/>
        </p:nvSpPr>
        <p:spPr>
          <a:xfrm>
            <a:off x="7085177" y="5424526"/>
            <a:ext cx="1164590" cy="285292"/>
          </a:xfrm>
          <a:prstGeom prst="rect">
            <a:avLst/>
          </a:prstGeom>
          <a:noFill/>
          <a:ln/>
        </p:spPr>
        <p:txBody>
          <a:bodyPr wrap="none" lIns="0" tIns="0" rIns="0" bIns="0" rtlCol="0" anchor="t"/>
          <a:lstStyle/>
          <a:p>
            <a:pPr algn="l" indent="0" marL="0">
              <a:buNone/>
            </a:pPr>
            <a:r>
              <a:rPr lang="vi-VN" altLang="en-US" sz="1125" b="1" dirty="0">
                <a:solidFill>
                  <a:srgbClr val="000000"/>
                </a:solidFill>
                <a:latin typeface="Times New Roman" pitchFamily="34" charset="0"/>
                <a:ea typeface="Times New Roman" pitchFamily="34" charset="-122"/>
                <a:cs typeface="Times New Roman" pitchFamily="34" charset="-120"/>
              </a:rPr>
              <a:t>Lịch sử Dự báo</a:t>
            </a:r>
            <a:endParaRPr lang="vi-VN" sz="1125" dirty="0"/>
          </a:p>
        </p:txBody>
      </p:sp>
      <p:sp>
        <p:nvSpPr>
          <p:cNvPr id="43" name="editable-text-041"/>
          <p:cNvSpPr/>
          <p:nvPr/>
        </p:nvSpPr>
        <p:spPr>
          <a:xfrm>
            <a:off x="7085177" y="5643575"/>
            <a:ext cx="2282609" cy="382245"/>
          </a:xfrm>
          <a:prstGeom prst="rect">
            <a:avLst/>
          </a:prstGeom>
          <a:noFill/>
          <a:ln/>
        </p:spPr>
        <p:txBody>
          <a:bodyPr wrap="square" lIns="0" tIns="0" rIns="0" bIns="0" rtlCol="0" anchor="t"/>
          <a:lstStyle/>
          <a:p>
            <a:pPr algn="l" indent="0" marL="0">
              <a:buNone/>
            </a:pPr>
            <a:r>
              <a:rPr lang="vi-VN" altLang="en-US" sz="825" dirty="0">
                <a:solidFill>
                  <a:srgbClr val="4B5563"/>
                </a:solidFill>
                <a:latin typeface="Times New Roman" pitchFamily="34" charset="0"/>
                <a:ea typeface="Times New Roman" pitchFamily="34" charset="-122"/>
                <a:cs typeface="Times New Roman" pitchFamily="34" charset="-120"/>
              </a:rPr>
              <a:t>Xem lại các dự báo và lời khuyên bạn đã lưu trước đó.</a:t>
            </a:r>
            <a:endParaRPr lang="vi-VN" sz="825" dirty="0"/>
          </a:p>
        </p:txBody>
      </p:sp>
      <p:sp>
        <p:nvSpPr>
          <p:cNvPr id="44" name="editable-text-042"/>
          <p:cNvSpPr/>
          <p:nvPr/>
        </p:nvSpPr>
        <p:spPr>
          <a:xfrm>
            <a:off x="7228230" y="6223330"/>
            <a:ext cx="2125027" cy="315608"/>
          </a:xfrm>
          <a:prstGeom prst="rect">
            <a:avLst/>
          </a:prstGeom>
          <a:noFill/>
          <a:ln/>
        </p:spPr>
        <p:txBody>
          <a:bodyPr wrap="square" lIns="0" tIns="0" rIns="0" bIns="0" rtlCol="0" anchor="t"/>
          <a:lstStyle/>
          <a:p>
            <a:pPr algn="l" indent="0" marL="0">
              <a:buNone/>
            </a:pPr>
            <a:r>
              <a:rPr lang="vi-VN" altLang="en-US" sz="600" dirty="0">
                <a:solidFill>
                  <a:srgbClr val="000000"/>
                </a:solidFill>
                <a:latin typeface="Times New Roman" pitchFamily="34" charset="0"/>
                <a:ea typeface="Times New Roman" pitchFamily="34" charset="-122"/>
                <a:cs typeface="Times New Roman" pitchFamily="34" charset="-120"/>
              </a:rPr>
              <a:t>Dự báo chỉ mang tính tham khảo, không thay thế quyết định của người trồng.</a:t>
            </a:r>
            <a:endParaRPr lang="vi-VN" sz="600" dirty="0"/>
          </a:p>
        </p:txBody>
      </p:sp>
      <p:sp>
        <p:nvSpPr>
          <p:cNvPr id="45" name="editable-text-043"/>
          <p:cNvSpPr/>
          <p:nvPr/>
        </p:nvSpPr>
        <p:spPr>
          <a:xfrm>
            <a:off x="3921204" y="7246620"/>
            <a:ext cx="4999831" cy="294640"/>
          </a:xfrm>
          <a:prstGeom prst="rect">
            <a:avLst/>
          </a:prstGeom>
          <a:noFill/>
          <a:ln/>
        </p:spPr>
        <p:txBody>
          <a:bodyPr wrap="square" lIns="0" tIns="0" rIns="0" bIns="0" rtlCol="0" anchor="t"/>
          <a:lstStyle/>
          <a:p>
            <a:pPr algn="l" indent="0" marL="0">
              <a:buNone/>
            </a:pPr>
            <a:r>
              <a:rPr lang="vi-VN" altLang="en-US" sz="1050" b="1" dirty="0">
                <a:solidFill>
                  <a:srgbClr val="000000"/>
                </a:solidFill>
                <a:latin typeface="Times New Roman" pitchFamily="34" charset="0"/>
                <a:ea typeface="Times New Roman" pitchFamily="34" charset="-122"/>
                <a:cs typeface="Times New Roman" pitchFamily="34" charset="-120"/>
              </a:rPr>
              <a:t>Dự báo chỉ mang tính tham khảo, không thay thế quyết định của người trồng.</a:t>
            </a:r>
            <a:endParaRPr lang="vi-VN" sz="1050" dirty="0"/>
          </a:p>
        </p:txBody>
      </p:sp>
      <p:sp>
        <p:nvSpPr>
          <p:cNvPr id="46" name="editable-text-044"/>
          <p:cNvSpPr/>
          <p:nvPr/>
        </p:nvSpPr>
        <p:spPr>
          <a:xfrm>
            <a:off x="11358721"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15</a:t>
            </a:r>
            <a:endParaRPr lang="vi-VN" sz="1350" dirty="0"/>
          </a:p>
        </p:txBody>
      </p:sp>
      <p:sp>
        <p:nvSpPr>
          <p:cNvPr id="47" name="editable-text-045"/>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48" name="editable-text-046"/>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16-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4008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KẾT LUẬN &amp; HƯỚNG PHÁT TRIỂN</a:t>
            </a:r>
            <a:endParaRPr lang="vi-VN" sz="2700" dirty="0"/>
          </a:p>
        </p:txBody>
      </p:sp>
      <p:sp>
        <p:nvSpPr>
          <p:cNvPr id="4" name="editable-text-002"/>
          <p:cNvSpPr/>
          <p:nvPr/>
        </p:nvSpPr>
        <p:spPr>
          <a:xfrm>
            <a:off x="8364855" y="66040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9804717" y="89408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812800" y="2080260"/>
            <a:ext cx="1512252" cy="477520"/>
          </a:xfrm>
          <a:prstGeom prst="rect">
            <a:avLst/>
          </a:prstGeom>
          <a:noFill/>
          <a:ln/>
        </p:spPr>
        <p:txBody>
          <a:bodyPr wrap="none" lIns="0" tIns="0" rIns="0" bIns="0" rtlCol="0" anchor="t"/>
          <a:lstStyle/>
          <a:p>
            <a:pPr algn="l" indent="0" marL="0">
              <a:buNone/>
            </a:pPr>
            <a:r>
              <a:rPr lang="vi-VN" altLang="en-US" sz="2250" b="1" dirty="0">
                <a:solidFill>
                  <a:srgbClr val="1E3A8A"/>
                </a:solidFill>
                <a:latin typeface="Times New Roman" pitchFamily="34" charset="0"/>
                <a:ea typeface="Times New Roman" pitchFamily="34" charset="-122"/>
                <a:cs typeface="Times New Roman" pitchFamily="34" charset="-120"/>
              </a:rPr>
              <a:t>Kết luận:</a:t>
            </a:r>
            <a:endParaRPr lang="vi-VN" sz="2250" dirty="0"/>
          </a:p>
        </p:txBody>
      </p:sp>
      <p:sp>
        <p:nvSpPr>
          <p:cNvPr id="7" name="editable-text-005"/>
          <p:cNvSpPr/>
          <p:nvPr/>
        </p:nvSpPr>
        <p:spPr>
          <a:xfrm>
            <a:off x="812800" y="270002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8" name="editable-text-006"/>
          <p:cNvSpPr/>
          <p:nvPr/>
        </p:nvSpPr>
        <p:spPr>
          <a:xfrm>
            <a:off x="1082199" y="2710180"/>
            <a:ext cx="5590381"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Đã Vận hành thành công cấu trúc AI End-to-End.</a:t>
            </a:r>
            <a:endParaRPr lang="vi-VN" sz="1980" dirty="0"/>
          </a:p>
        </p:txBody>
      </p:sp>
      <p:sp>
        <p:nvSpPr>
          <p:cNvPr id="9" name="editable-text-007"/>
          <p:cNvSpPr/>
          <p:nvPr/>
        </p:nvSpPr>
        <p:spPr>
          <a:xfrm>
            <a:off x="812800" y="3312636"/>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0" name="editable-text-008"/>
          <p:cNvSpPr/>
          <p:nvPr/>
        </p:nvSpPr>
        <p:spPr>
          <a:xfrm>
            <a:off x="1082199" y="3322796"/>
            <a:ext cx="7578407"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Tích hợp hiện thực thành công 5 Trụ cột AI Bền vững vào hệ thống.</a:t>
            </a:r>
            <a:endParaRPr lang="vi-VN" sz="1980" dirty="0"/>
          </a:p>
        </p:txBody>
      </p:sp>
      <p:sp>
        <p:nvSpPr>
          <p:cNvPr id="11" name="editable-text-009"/>
          <p:cNvSpPr/>
          <p:nvPr/>
        </p:nvSpPr>
        <p:spPr>
          <a:xfrm>
            <a:off x="812800" y="3925252"/>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2" name="editable-text-010"/>
          <p:cNvSpPr/>
          <p:nvPr/>
        </p:nvSpPr>
        <p:spPr>
          <a:xfrm>
            <a:off x="1082199" y="3935412"/>
            <a:ext cx="7475061"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Trung thực báo cáo giới hạn do ngoại suy mô hình cây Quyết định.</a:t>
            </a:r>
            <a:endParaRPr lang="vi-VN" sz="1980" dirty="0"/>
          </a:p>
        </p:txBody>
      </p:sp>
      <p:sp>
        <p:nvSpPr>
          <p:cNvPr id="13" name="editable-text-011"/>
          <p:cNvSpPr/>
          <p:nvPr/>
        </p:nvSpPr>
        <p:spPr>
          <a:xfrm>
            <a:off x="812800" y="4608989"/>
            <a:ext cx="2668270" cy="477520"/>
          </a:xfrm>
          <a:prstGeom prst="rect">
            <a:avLst/>
          </a:prstGeom>
          <a:noFill/>
          <a:ln/>
        </p:spPr>
        <p:txBody>
          <a:bodyPr wrap="none" lIns="0" tIns="0" rIns="0" bIns="0" rtlCol="0" anchor="t"/>
          <a:lstStyle/>
          <a:p>
            <a:pPr algn="l" indent="0" marL="0">
              <a:buNone/>
            </a:pPr>
            <a:r>
              <a:rPr lang="vi-VN" altLang="en-US" sz="2250" b="1" dirty="0">
                <a:solidFill>
                  <a:srgbClr val="1E3A8A"/>
                </a:solidFill>
                <a:latin typeface="Times New Roman" pitchFamily="34" charset="0"/>
                <a:ea typeface="Times New Roman" pitchFamily="34" charset="-122"/>
                <a:cs typeface="Times New Roman" pitchFamily="34" charset="-120"/>
              </a:rPr>
              <a:t>Hướng phát triển:</a:t>
            </a:r>
            <a:endParaRPr lang="vi-VN" sz="2250" dirty="0"/>
          </a:p>
        </p:txBody>
      </p:sp>
      <p:sp>
        <p:nvSpPr>
          <p:cNvPr id="14" name="editable-text-012"/>
          <p:cNvSpPr/>
          <p:nvPr/>
        </p:nvSpPr>
        <p:spPr>
          <a:xfrm>
            <a:off x="812800" y="5228749"/>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5" name="editable-text-013"/>
          <p:cNvSpPr/>
          <p:nvPr/>
        </p:nvSpPr>
        <p:spPr>
          <a:xfrm>
            <a:off x="1082199" y="5238909"/>
            <a:ext cx="9017000"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Xây dựng theo mô hình Time-series hỗ trợ trôi xu hướng (Prophet, XGBoost v2).</a:t>
            </a:r>
            <a:endParaRPr lang="vi-VN" sz="1980" dirty="0"/>
          </a:p>
        </p:txBody>
      </p:sp>
      <p:sp>
        <p:nvSpPr>
          <p:cNvPr id="16" name="editable-text-014"/>
          <p:cNvSpPr/>
          <p:nvPr/>
        </p:nvSpPr>
        <p:spPr>
          <a:xfrm>
            <a:off x="812800" y="5841365"/>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7" name="editable-text-015"/>
          <p:cNvSpPr/>
          <p:nvPr/>
        </p:nvSpPr>
        <p:spPr>
          <a:xfrm>
            <a:off x="1082199" y="5851525"/>
            <a:ext cx="9116219"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Tiến hành huấn luyện Localized models dành riêng cho các vi khí hậu (tiểu vùng).</a:t>
            </a:r>
            <a:endParaRPr lang="vi-VN" sz="1980" dirty="0"/>
          </a:p>
        </p:txBody>
      </p:sp>
      <p:sp>
        <p:nvSpPr>
          <p:cNvPr id="18" name="editable-text-016"/>
          <p:cNvSpPr/>
          <p:nvPr/>
        </p:nvSpPr>
        <p:spPr>
          <a:xfrm>
            <a:off x="11358721"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16</a:t>
            </a:r>
            <a:endParaRPr lang="vi-VN" sz="1350" dirty="0"/>
          </a:p>
        </p:txBody>
      </p:sp>
      <p:sp>
        <p:nvSpPr>
          <p:cNvPr id="19" name="editable-text-017"/>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20" name="editable-text-018"/>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17-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650240" y="640080"/>
            <a:ext cx="7315200" cy="589280"/>
          </a:xfrm>
          <a:prstGeom prst="rect">
            <a:avLst/>
          </a:prstGeom>
          <a:noFill/>
          <a:ln/>
        </p:spPr>
        <p:txBody>
          <a:bodyPr wrap="none" lIns="0" tIns="0" rIns="0" bIns="0" rtlCol="0" anchor="t"/>
          <a:lstStyle/>
          <a:p>
            <a:pPr algn="l" indent="0" marL="0">
              <a:buNone/>
            </a:pPr>
            <a:r>
              <a:rPr lang="vi-VN" altLang="en-US" sz="2700" b="1" dirty="0">
                <a:solidFill>
                  <a:srgbClr val="1E3A8A"/>
                </a:solidFill>
                <a:latin typeface="Times New Roman" pitchFamily="34" charset="0"/>
                <a:ea typeface="Times New Roman" pitchFamily="34" charset="-122"/>
                <a:cs typeface="Times New Roman" pitchFamily="34" charset="-120"/>
              </a:rPr>
              <a:t>KẾT LUẬN &amp; TÀI LIỆU THAM KHẢO</a:t>
            </a:r>
            <a:endParaRPr lang="vi-VN" sz="2700" dirty="0"/>
          </a:p>
        </p:txBody>
      </p:sp>
      <p:sp>
        <p:nvSpPr>
          <p:cNvPr id="4" name="editable-text-002"/>
          <p:cNvSpPr/>
          <p:nvPr/>
        </p:nvSpPr>
        <p:spPr>
          <a:xfrm>
            <a:off x="8364855" y="660400"/>
            <a:ext cx="3657600" cy="294640"/>
          </a:xfrm>
          <a:prstGeom prst="rect">
            <a:avLst/>
          </a:prstGeom>
          <a:noFill/>
          <a:ln/>
        </p:spPr>
        <p:txBody>
          <a:bodyPr wrap="none" lIns="0" tIns="0" rIns="0" bIns="0" rtlCol="0" anchor="t"/>
          <a:lstStyle/>
          <a:p>
            <a:pPr algn="r" indent="0" marL="0">
              <a:buNone/>
            </a:pPr>
            <a:r>
              <a:rPr lang="vi-VN" altLang="en-US" sz="1050" b="1" dirty="0">
                <a:solidFill>
                  <a:srgbClr val="1E40AF"/>
                </a:solidFill>
                <a:latin typeface="Times New Roman" pitchFamily="34" charset="0"/>
                <a:ea typeface="Times New Roman" pitchFamily="34" charset="-122"/>
                <a:cs typeface="Times New Roman" pitchFamily="34" charset="-120"/>
              </a:rPr>
              <a:t>TRƯỜNG ĐẠI HỌC CÔNG NGHỆ THÔNG TIN</a:t>
            </a:r>
            <a:endParaRPr lang="vi-VN" sz="1050" dirty="0"/>
          </a:p>
        </p:txBody>
      </p:sp>
      <p:sp>
        <p:nvSpPr>
          <p:cNvPr id="5" name="editable-text-003"/>
          <p:cNvSpPr/>
          <p:nvPr/>
        </p:nvSpPr>
        <p:spPr>
          <a:xfrm>
            <a:off x="9804717" y="894080"/>
            <a:ext cx="3657600" cy="284480"/>
          </a:xfrm>
          <a:prstGeom prst="rect">
            <a:avLst/>
          </a:prstGeom>
          <a:noFill/>
          <a:ln/>
        </p:spPr>
        <p:txBody>
          <a:bodyPr wrap="none" lIns="0" tIns="0" rIns="0" bIns="0" rtlCol="0" anchor="t"/>
          <a:lstStyle/>
          <a:p>
            <a:pPr algn="r" indent="0" marL="0">
              <a:buNone/>
            </a:pPr>
            <a:r>
              <a:rPr lang="vi-VN" altLang="en-US" sz="900" b="1" dirty="0">
                <a:solidFill>
                  <a:srgbClr val="6B7280"/>
                </a:solidFill>
                <a:latin typeface="Times New Roman" pitchFamily="34" charset="0"/>
                <a:ea typeface="Times New Roman" pitchFamily="34" charset="-122"/>
                <a:cs typeface="Times New Roman" pitchFamily="34" charset="-120"/>
              </a:rPr>
              <a:t>ĐHQG-HCM | NHÓM 10 - DT10</a:t>
            </a:r>
            <a:endParaRPr lang="vi-VN" sz="900" dirty="0"/>
          </a:p>
        </p:txBody>
      </p:sp>
      <p:sp>
        <p:nvSpPr>
          <p:cNvPr id="6" name="editable-text-004"/>
          <p:cNvSpPr/>
          <p:nvPr/>
        </p:nvSpPr>
        <p:spPr>
          <a:xfrm>
            <a:off x="812800" y="2080260"/>
            <a:ext cx="1919129" cy="477520"/>
          </a:xfrm>
          <a:prstGeom prst="rect">
            <a:avLst/>
          </a:prstGeom>
          <a:noFill/>
          <a:ln/>
        </p:spPr>
        <p:txBody>
          <a:bodyPr wrap="none" lIns="0" tIns="0" rIns="0" bIns="0" rtlCol="0" anchor="t"/>
          <a:lstStyle/>
          <a:p>
            <a:pPr algn="l" indent="0" marL="0">
              <a:buNone/>
            </a:pPr>
            <a:r>
              <a:rPr lang="vi-VN" altLang="en-US" sz="2250" b="1" dirty="0">
                <a:solidFill>
                  <a:srgbClr val="1E3A8A"/>
                </a:solidFill>
                <a:latin typeface="Times New Roman" pitchFamily="34" charset="0"/>
                <a:ea typeface="Times New Roman" pitchFamily="34" charset="-122"/>
                <a:cs typeface="Times New Roman" pitchFamily="34" charset="-120"/>
              </a:rPr>
              <a:t>Nhấn mạnh:</a:t>
            </a:r>
            <a:endParaRPr lang="vi-VN" sz="2250" dirty="0"/>
          </a:p>
        </p:txBody>
      </p:sp>
      <p:sp>
        <p:nvSpPr>
          <p:cNvPr id="7" name="editable-text-005"/>
          <p:cNvSpPr/>
          <p:nvPr/>
        </p:nvSpPr>
        <p:spPr>
          <a:xfrm>
            <a:off x="812800" y="2700020"/>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8" name="editable-text-006"/>
          <p:cNvSpPr/>
          <p:nvPr/>
        </p:nvSpPr>
        <p:spPr>
          <a:xfrm>
            <a:off x="1082199" y="2710180"/>
            <a:ext cx="5483066"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Đã nhận diện thành công các hạn chế thuật toán.</a:t>
            </a:r>
            <a:endParaRPr lang="vi-VN" sz="1980" dirty="0"/>
          </a:p>
        </p:txBody>
      </p:sp>
      <p:sp>
        <p:nvSpPr>
          <p:cNvPr id="9" name="editable-text-007"/>
          <p:cNvSpPr/>
          <p:nvPr/>
        </p:nvSpPr>
        <p:spPr>
          <a:xfrm>
            <a:off x="812800" y="3383756"/>
            <a:ext cx="3832701" cy="477520"/>
          </a:xfrm>
          <a:prstGeom prst="rect">
            <a:avLst/>
          </a:prstGeom>
          <a:noFill/>
          <a:ln/>
        </p:spPr>
        <p:txBody>
          <a:bodyPr wrap="none" lIns="0" tIns="0" rIns="0" bIns="0" rtlCol="0" anchor="t"/>
          <a:lstStyle/>
          <a:p>
            <a:pPr algn="l" indent="0" marL="0">
              <a:buNone/>
            </a:pPr>
            <a:r>
              <a:rPr lang="vi-VN" altLang="en-US" sz="2250" b="1" dirty="0">
                <a:solidFill>
                  <a:srgbClr val="1E3A8A"/>
                </a:solidFill>
                <a:latin typeface="Times New Roman" pitchFamily="34" charset="0"/>
                <a:ea typeface="Times New Roman" pitchFamily="34" charset="-122"/>
                <a:cs typeface="Times New Roman" pitchFamily="34" charset="-120"/>
              </a:rPr>
              <a:t>Tài liệu tham khảo nổi bật:</a:t>
            </a:r>
            <a:endParaRPr lang="vi-VN" sz="2250" dirty="0"/>
          </a:p>
        </p:txBody>
      </p:sp>
      <p:sp>
        <p:nvSpPr>
          <p:cNvPr id="10" name="editable-text-008"/>
          <p:cNvSpPr/>
          <p:nvPr/>
        </p:nvSpPr>
        <p:spPr>
          <a:xfrm>
            <a:off x="812800" y="4003516"/>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1" name="editable-text-009"/>
          <p:cNvSpPr/>
          <p:nvPr/>
        </p:nvSpPr>
        <p:spPr>
          <a:xfrm>
            <a:off x="1082199" y="4013676"/>
            <a:ext cx="6415087"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Breiman, L. (2001). Random Forests. Machine Learning.</a:t>
            </a:r>
            <a:endParaRPr lang="vi-VN" sz="1980" dirty="0"/>
          </a:p>
        </p:txBody>
      </p:sp>
      <p:sp>
        <p:nvSpPr>
          <p:cNvPr id="12" name="editable-text-010"/>
          <p:cNvSpPr/>
          <p:nvPr/>
        </p:nvSpPr>
        <p:spPr>
          <a:xfrm>
            <a:off x="812800" y="4616132"/>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3" name="editable-text-011"/>
          <p:cNvSpPr/>
          <p:nvPr/>
        </p:nvSpPr>
        <p:spPr>
          <a:xfrm>
            <a:off x="1082199" y="4626292"/>
            <a:ext cx="5486400" cy="772160"/>
          </a:xfrm>
          <a:prstGeom prst="rect">
            <a:avLst/>
          </a:prstGeom>
          <a:noFill/>
          <a:ln/>
        </p:spPr>
        <p:txBody>
          <a:bodyPr wrap="square" lIns="0" tIns="0" rIns="0" bIns="0" rtlCol="0" anchor="t"/>
          <a:lstStyle/>
          <a:p>
            <a:pPr algn="l" indent="0" marL="0">
              <a:buNone/>
            </a:pPr>
            <a:r>
              <a:rPr lang="vi-VN" altLang="en-US" sz="1980" b="1" dirty="0">
                <a:solidFill>
                  <a:srgbClr val="000000"/>
                </a:solidFill>
                <a:latin typeface="Times New Roman" pitchFamily="34" charset="0"/>
                <a:ea typeface="Times New Roman" pitchFamily="34" charset="-122"/>
                <a:cs typeface="Times New Roman" pitchFamily="34" charset="-120"/>
              </a:rPr>
              <a:t>Scikit-learn:</a:t>
            </a:r>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 Machine Learning in Python.</a:t>
            </a:r>
            <a:endParaRPr lang="vi-VN" sz="1980" dirty="0"/>
          </a:p>
        </p:txBody>
      </p:sp>
      <p:sp>
        <p:nvSpPr>
          <p:cNvPr id="14" name="editable-text-012"/>
          <p:cNvSpPr/>
          <p:nvPr/>
        </p:nvSpPr>
        <p:spPr>
          <a:xfrm>
            <a:off x="812800" y="5228749"/>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5" name="editable-text-013"/>
          <p:cNvSpPr/>
          <p:nvPr/>
        </p:nvSpPr>
        <p:spPr>
          <a:xfrm>
            <a:off x="1082199" y="5238909"/>
            <a:ext cx="4143534" cy="447040"/>
          </a:xfrm>
          <a:prstGeom prst="rect">
            <a:avLst/>
          </a:prstGeom>
          <a:noFill/>
          <a:ln/>
        </p:spPr>
        <p:txBody>
          <a:bodyPr wrap="non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Microsoft Responsible AI Standard.</a:t>
            </a:r>
            <a:endParaRPr lang="vi-VN" sz="1980" dirty="0"/>
          </a:p>
        </p:txBody>
      </p:sp>
      <p:sp>
        <p:nvSpPr>
          <p:cNvPr id="16" name="editable-text-014"/>
          <p:cNvSpPr/>
          <p:nvPr/>
        </p:nvSpPr>
        <p:spPr>
          <a:xfrm>
            <a:off x="812800" y="5841365"/>
            <a:ext cx="391319" cy="477520"/>
          </a:xfrm>
          <a:prstGeom prst="rect">
            <a:avLst/>
          </a:prstGeom>
          <a:noFill/>
          <a:ln/>
        </p:spPr>
        <p:txBody>
          <a:bodyPr wrap="none" lIns="0" tIns="0" rIns="0" bIns="0" rtlCol="0" anchor="t"/>
          <a:lstStyle/>
          <a:p>
            <a:pPr algn="l" indent="0" marL="0">
              <a:buNone/>
            </a:pPr>
            <a:r>
              <a:rPr lang="vi-VN" altLang="en-US" sz="2250" b="1" dirty="0">
                <a:solidFill>
                  <a:srgbClr val="2563EB"/>
                </a:solidFill>
                <a:latin typeface="Times New Roman" pitchFamily="34" charset="0"/>
                <a:ea typeface="Times New Roman" pitchFamily="34" charset="-122"/>
                <a:cs typeface="Times New Roman" pitchFamily="34" charset="-120"/>
              </a:rPr>
              <a:t>•</a:t>
            </a:r>
            <a:endParaRPr lang="vi-VN" sz="2250" dirty="0"/>
          </a:p>
        </p:txBody>
      </p:sp>
      <p:sp>
        <p:nvSpPr>
          <p:cNvPr id="17" name="editable-text-015"/>
          <p:cNvSpPr/>
          <p:nvPr/>
        </p:nvSpPr>
        <p:spPr>
          <a:xfrm>
            <a:off x="1082199" y="5851525"/>
            <a:ext cx="6821011" cy="447040"/>
          </a:xfrm>
          <a:prstGeom prst="rect">
            <a:avLst/>
          </a:prstGeom>
          <a:noFill/>
          <a:ln/>
        </p:spPr>
        <p:txBody>
          <a:bodyPr wrap="square" lIns="0" tIns="0" rIns="0" bIns="0" rtlCol="0" anchor="t"/>
          <a:lstStyle/>
          <a:p>
            <a:pPr algn="l" indent="0" marL="0">
              <a:buNone/>
            </a:pPr>
            <a:r>
              <a:rPr lang="vi-VN" altLang="en-US" sz="1980" dirty="0">
                <a:solidFill>
                  <a:srgbClr val="000000"/>
                </a:solidFill>
                <a:latin typeface="Times New Roman" pitchFamily="34" charset="0"/>
                <a:ea typeface="Times New Roman" pitchFamily="34" charset="-122"/>
                <a:cs typeface="Times New Roman" pitchFamily="34" charset="-120"/>
              </a:rPr>
              <a:t>Trang tin thị trường nông sản Việt Nam và Open-Meteo API.</a:t>
            </a:r>
            <a:endParaRPr lang="vi-VN" sz="1980" dirty="0"/>
          </a:p>
        </p:txBody>
      </p:sp>
      <p:sp>
        <p:nvSpPr>
          <p:cNvPr id="18" name="editable-text-016"/>
          <p:cNvSpPr/>
          <p:nvPr/>
        </p:nvSpPr>
        <p:spPr>
          <a:xfrm>
            <a:off x="11358721"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17</a:t>
            </a:r>
            <a:endParaRPr lang="vi-VN" sz="1350" dirty="0"/>
          </a:p>
        </p:txBody>
      </p:sp>
      <p:sp>
        <p:nvSpPr>
          <p:cNvPr id="19" name="editable-text-017"/>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20" name="editable-text-018"/>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background-no-text" descr="D:\repositories\uit-ai002-coffee-frontend-slide-main\uit-ai002-coffee-frontend-slide-main\outputs\manual-20260607-html-to-pptx\presentations\html-to-pptx\work\background-no-text\slide-18-background.png">    </p:cNvPr>
          <p:cNvPicPr>
            <a:picLocks noChangeAspect="1"/>
          </p:cNvPicPr>
          <p:nvPr/>
        </p:nvPicPr>
        <p:blipFill>
          <a:blip r:embed="rId1"/>
          <a:stretch>
            <a:fillRect/>
          </a:stretch>
        </p:blipFill>
        <p:spPr>
          <a:xfrm>
            <a:off x="0" y="0"/>
            <a:ext cx="12192000" cy="6858000"/>
          </a:xfrm>
          <a:prstGeom prst="rect">
            <a:avLst/>
          </a:prstGeom>
        </p:spPr>
      </p:pic>
      <p:sp>
        <p:nvSpPr>
          <p:cNvPr id="3" name="editable-text-001"/>
          <p:cNvSpPr/>
          <p:nvPr/>
        </p:nvSpPr>
        <p:spPr>
          <a:xfrm>
            <a:off x="2115344" y="670560"/>
            <a:ext cx="8245792" cy="406400"/>
          </a:xfrm>
          <a:prstGeom prst="rect">
            <a:avLst/>
          </a:prstGeom>
          <a:noFill/>
          <a:ln/>
        </p:spPr>
        <p:txBody>
          <a:bodyPr wrap="none" lIns="0" tIns="0" rIns="0" bIns="0" rtlCol="0" anchor="t"/>
          <a:lstStyle/>
          <a:p>
            <a:pPr algn="ctr" indent="0" marL="0">
              <a:buNone/>
            </a:pPr>
            <a:r>
              <a:rPr lang="vi-VN" altLang="en-US" sz="1800" b="1" dirty="0">
                <a:solidFill>
                  <a:srgbClr val="BFDBFE">
                    <a:alpha val="80000"/>
                  </a:srgbClr>
                </a:solidFill>
                <a:latin typeface="Times New Roman" pitchFamily="34" charset="0"/>
                <a:ea typeface="Times New Roman" pitchFamily="34" charset="-122"/>
                <a:cs typeface="Times New Roman" pitchFamily="34" charset="-120"/>
              </a:rPr>
              <a:t>TRƯỜNG ĐẠI HỌC CÔNG NGHỆ THÔNG TIN - ĐHQG-HCM</a:t>
            </a:r>
            <a:endParaRPr lang="vi-VN" sz="1800" dirty="0"/>
          </a:p>
        </p:txBody>
      </p:sp>
      <p:sp>
        <p:nvSpPr>
          <p:cNvPr id="4" name="editable-text-002"/>
          <p:cNvSpPr/>
          <p:nvPr/>
        </p:nvSpPr>
        <p:spPr>
          <a:xfrm>
            <a:off x="1768316" y="2372360"/>
            <a:ext cx="9347200" cy="873760"/>
          </a:xfrm>
          <a:prstGeom prst="rect">
            <a:avLst/>
          </a:prstGeom>
          <a:noFill/>
          <a:ln/>
        </p:spPr>
        <p:txBody>
          <a:bodyPr wrap="none" lIns="0" tIns="0" rIns="0" bIns="0" rtlCol="0" anchor="t"/>
          <a:lstStyle/>
          <a:p>
            <a:pPr algn="ctr" indent="0" marL="0">
              <a:buNone/>
            </a:pPr>
            <a:r>
              <a:rPr lang="vi-VN" altLang="en-US" sz="4500" b="1" dirty="0">
                <a:solidFill>
                  <a:srgbClr val="FFFFFF"/>
                </a:solidFill>
                <a:latin typeface="Times New Roman" pitchFamily="34" charset="0"/>
                <a:ea typeface="Times New Roman" pitchFamily="34" charset="-122"/>
                <a:cs typeface="Times New Roman" pitchFamily="34" charset="-120"/>
              </a:rPr>
              <a:t>XIN CHÂN THÀNH CẢM ƠN!</a:t>
            </a:r>
            <a:endParaRPr lang="vi-VN" sz="4500" dirty="0"/>
          </a:p>
        </p:txBody>
      </p:sp>
      <p:sp>
        <p:nvSpPr>
          <p:cNvPr id="5" name="editable-text-003"/>
          <p:cNvSpPr/>
          <p:nvPr/>
        </p:nvSpPr>
        <p:spPr>
          <a:xfrm>
            <a:off x="4419282" y="3540760"/>
            <a:ext cx="3637597" cy="548640"/>
          </a:xfrm>
          <a:prstGeom prst="rect">
            <a:avLst/>
          </a:prstGeom>
          <a:noFill/>
          <a:ln/>
        </p:spPr>
        <p:txBody>
          <a:bodyPr wrap="none" lIns="0" tIns="0" rIns="0" bIns="0" rtlCol="0" anchor="t"/>
          <a:lstStyle/>
          <a:p>
            <a:pPr algn="ctr" indent="0" marL="0">
              <a:buNone/>
            </a:pPr>
            <a:r>
              <a:rPr lang="vi-VN" altLang="en-US" sz="2700" b="1" dirty="0">
                <a:solidFill>
                  <a:srgbClr val="BFDBFE"/>
                </a:solidFill>
                <a:latin typeface="Times New Roman" pitchFamily="34" charset="0"/>
                <a:ea typeface="Times New Roman" pitchFamily="34" charset="-122"/>
                <a:cs typeface="Times New Roman" pitchFamily="34" charset="-120"/>
              </a:rPr>
              <a:t>Questions &amp; Answers</a:t>
            </a:r>
            <a:endParaRPr lang="vi-VN" sz="2700" dirty="0"/>
          </a:p>
        </p:txBody>
      </p:sp>
      <p:sp>
        <p:nvSpPr>
          <p:cNvPr id="6" name="editable-text-004"/>
          <p:cNvSpPr/>
          <p:nvPr/>
        </p:nvSpPr>
        <p:spPr>
          <a:xfrm>
            <a:off x="2705259" y="4627880"/>
            <a:ext cx="7065645" cy="406400"/>
          </a:xfrm>
          <a:prstGeom prst="rect">
            <a:avLst/>
          </a:prstGeom>
          <a:noFill/>
          <a:ln/>
        </p:spPr>
        <p:txBody>
          <a:bodyPr wrap="square" lIns="0" tIns="0" rIns="0" bIns="0" rtlCol="0" anchor="t"/>
          <a:lstStyle/>
          <a:p>
            <a:pPr algn="ctr" indent="0" marL="0">
              <a:buNone/>
            </a:pPr>
            <a:r>
              <a:rPr lang="vi-VN" altLang="en-US" sz="1800" dirty="0">
                <a:solidFill>
                  <a:srgbClr val="DBEAFE"/>
                </a:solidFill>
                <a:latin typeface="Times New Roman" pitchFamily="34" charset="0"/>
                <a:ea typeface="Times New Roman" pitchFamily="34" charset="-122"/>
                <a:cs typeface="Times New Roman" pitchFamily="34" charset="-120"/>
              </a:rPr>
              <a:t>Trân trọng cảm ơn TS. Phan Thế Duy và các bạn đã theo dõi báo cáo.</a:t>
            </a:r>
            <a:endParaRPr lang="vi-VN" sz="1800" dirty="0"/>
          </a:p>
        </p:txBody>
      </p:sp>
      <p:sp>
        <p:nvSpPr>
          <p:cNvPr id="7" name="editable-text-005"/>
          <p:cNvSpPr/>
          <p:nvPr/>
        </p:nvSpPr>
        <p:spPr>
          <a:xfrm>
            <a:off x="11358721"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
        <p:nvSpPr>
          <p:cNvPr id="8" name="editable-text-006"/>
          <p:cNvSpPr/>
          <p:nvPr/>
        </p:nvSpPr>
        <p:spPr>
          <a:xfrm>
            <a:off x="11541601" y="6441440"/>
            <a:ext cx="426879"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a:t>
            </a:r>
            <a:endParaRPr lang="vi-VN" sz="1350" dirty="0"/>
          </a:p>
        </p:txBody>
      </p:sp>
      <p:sp>
        <p:nvSpPr>
          <p:cNvPr id="9" name="editable-text-007"/>
          <p:cNvSpPr/>
          <p:nvPr/>
        </p:nvSpPr>
        <p:spPr>
          <a:xfrm>
            <a:off x="11684000" y="6441440"/>
            <a:ext cx="467360" cy="345440"/>
          </a:xfrm>
          <a:prstGeom prst="rect">
            <a:avLst/>
          </a:prstGeom>
          <a:noFill/>
          <a:ln/>
        </p:spPr>
        <p:txBody>
          <a:bodyPr wrap="none" lIns="0" tIns="0" rIns="0" bIns="0" rtlCol="0" anchor="t"/>
          <a:lstStyle/>
          <a:p>
            <a:pPr algn="l" indent="0" marL="0">
              <a:buNone/>
            </a:pPr>
            <a:r>
              <a:rPr lang="vi-VN" altLang="en-US" sz="1350" b="1" dirty="0">
                <a:solidFill>
                  <a:srgbClr val="6B7280"/>
                </a:solidFill>
                <a:latin typeface="Times New Roman" pitchFamily="34" charset="0"/>
                <a:ea typeface="Times New Roman" pitchFamily="34" charset="-122"/>
                <a:cs typeface="Times New Roman" pitchFamily="34" charset="-120"/>
              </a:rPr>
              <a:t>18</a:t>
            </a:r>
            <a:endParaRPr lang="vi-VN"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UIT - VNU-HCM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AI002 Coffee Slide Deck - 2 Layer Editable Text</dc:title>
  <dc:subject>AI hỗ trợ canh tác và dự báo giá cà phê</dc:subject>
  <dc:creator>UIT AI002 Nhóm 10</dc:creator>
  <cp:lastModifiedBy>UIT AI002 Nhóm 10</cp:lastModifiedBy>
  <cp:revision>1</cp:revision>
  <dcterms:created xsi:type="dcterms:W3CDTF">2026-06-07T03:01:22Z</dcterms:created>
  <dcterms:modified xsi:type="dcterms:W3CDTF">2026-06-07T03:01:22Z</dcterms:modified>
</cp:coreProperties>
</file>